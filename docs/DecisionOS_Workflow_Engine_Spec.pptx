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39B7FF"/>
              </a:gs>
              <a:gs pos="28000">
                <a:srgbClr val="2E6BFF"/>
              </a:gs>
              <a:gs pos="70000">
                <a:srgbClr val="0B1E63"/>
              </a:gs>
              <a:gs pos="100000">
                <a:srgbClr val="081235"/>
              </a:gs>
            </a:gsLst>
            <a:path path="circle">
              <a:fillToRect l="32000" t="38000" r="68000" b="62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58368" y="585216"/>
            <a:ext cx="237744" cy="237744"/>
          </a:xfrm>
          <a:prstGeom prst="diamond">
            <a:avLst/>
          </a:prstGeom>
          <a:gradFill>
            <a:gsLst>
              <a:gs pos="0">
                <a:srgbClr val="39B7FF"/>
              </a:gs>
              <a:gs pos="100000">
                <a:srgbClr val="2E6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3949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spc="30">
                <a:solidFill>
                  <a:srgbClr val="FFFFFF"/>
                </a:solidFill>
                <a:latin typeface="Segoe UI Semibold"/>
                <a:cs typeface="Segoe UI Semibold"/>
              </a:rPr>
              <a:t>DecisionOS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603504"/>
            <a:ext cx="265176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F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594360"/>
            <a:ext cx="2651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60">
                <a:solidFill>
                  <a:srgbClr val="D6E4FF"/>
                </a:solidFill>
                <a:latin typeface="Segoe UI Semibold"/>
                <a:cs typeface="Segoe UI Semibold"/>
              </a:rPr>
              <a:t>PRODUCT SPEC ·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0" i="0">
                <a:solidFill>
                  <a:srgbClr val="FFFFFF"/>
                </a:solidFill>
                <a:latin typeface="Segoe UI Light"/>
                <a:cs typeface="Segoe UI Light"/>
              </a:rPr>
              <a:t>The workflow,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0" i="0">
                <a:solidFill>
                  <a:srgbClr val="FFFFFF"/>
                </a:solidFill>
                <a:latin typeface="Segoe UI Semibold"/>
                <a:cs typeface="Segoe UI Semibold"/>
              </a:rPr>
              <a:t>as an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80560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D8E2FF"/>
                </a:solidFill>
                <a:latin typeface="Segoe UI"/>
                <a:cs typeface="Segoe UI"/>
              </a:rPr>
              <a:t>What our task &amp; workflow model does today, why founders lose trust in it, and the smallest rebuild that fixes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806440"/>
            <a:ext cx="1217980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07024"/>
            <a:ext cx="9436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89904"/>
            <a:ext cx="9436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cs typeface="Segoe UI Semibold"/>
              </a:rPr>
              <a:t>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2380" y="5806440"/>
            <a:ext cx="2227478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3548" y="5907024"/>
            <a:ext cx="19531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3548" y="6089904"/>
            <a:ext cx="19531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cs typeface="Segoe UI Semibold"/>
              </a:rPr>
              <a:t>Founder · Product · Eng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1027" y="5806440"/>
            <a:ext cx="1975103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195" y="5907024"/>
            <a:ext cx="170078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195" y="6089904"/>
            <a:ext cx="17007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cs typeface="Segoe UI Semibold"/>
              </a:rPr>
              <a:t>Draft for discussion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7299" y="5806440"/>
            <a:ext cx="1302105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8467" y="5907024"/>
            <a:ext cx="102778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8467" y="6089904"/>
            <a:ext cx="102778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cs typeface="Segoe UI Semibold"/>
              </a:rPr>
              <a:t>~10 min 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40" y="1325880"/>
            <a:ext cx="7863840" cy="3108960"/>
          </a:xfrm>
          <a:prstGeom prst="ellipse">
            <a:avLst/>
          </a:prstGeom>
          <a:gradFill>
            <a:gsLst>
              <a:gs pos="0">
                <a:srgbClr val="2E6BFF">
                  <a:alpha val="36000"/>
                </a:srgbClr>
              </a:gs>
              <a:gs pos="45000">
                <a:srgbClr val="2E6BFF">
                  <a:alpha val="13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1783080"/>
            <a:ext cx="4023360" cy="1828800"/>
          </a:xfrm>
          <a:prstGeom prst="ellipse">
            <a:avLst/>
          </a:prstGeom>
          <a:gradFill>
            <a:gsLst>
              <a:gs pos="0">
                <a:srgbClr val="39B7FF">
                  <a:alpha val="30000"/>
                </a:srgbClr>
              </a:gs>
              <a:gs pos="45000">
                <a:srgbClr val="2E6BFF">
                  <a:alpha val="11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01 · THE CURRENT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9966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0" i="0">
                <a:solidFill>
                  <a:srgbClr val="FFFFFF"/>
                </a:solidFill>
                <a:latin typeface="Segoe UI Light"/>
                <a:cs typeface="Segoe UI Light"/>
              </a:rPr>
              <a:t>Two parallel worlds share a page and a name — </a:t>
            </a:r>
            <a:r>
              <a:rPr sz="3300" b="0" i="0">
                <a:solidFill>
                  <a:srgbClr val="FFFFFF"/>
                </a:solidFill>
                <a:latin typeface="Segoe UI Semibold"/>
                <a:cs typeface="Segoe UI Semibold"/>
              </a:rPr>
              <a:t>but never a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5196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4CCDE"/>
                </a:solidFill>
                <a:latin typeface="Segoe UI"/>
                <a:cs typeface="Segoe UI"/>
              </a:rPr>
              <a:t>That's the whole bug, dressed up in three different Settings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440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9AA4BE"/>
                </a:solidFill>
                <a:latin typeface="Segoe UI"/>
                <a:cs typeface="Segoe UI"/>
              </a:rPr>
              <a:t>↳  Everything that follows is a symptom of this one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Tasks and workflows are strangers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39B7FF"/>
                </a:solidFill>
                <a:latin typeface="Segoe UI Semibold"/>
                <a:cs typeface="Segoe UI Semibold"/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660903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 thing to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assignee · due date · status (todo → in_progress → done)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3337559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Has a story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“Priya, call the vendor about the missing shipment”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4014215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8" y="3931920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Lives in 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2E6BFF"/>
                </a:solidFill>
                <a:latin typeface="Segoe UI Semibold"/>
                <a:cs typeface="Segoe UI Semibold"/>
              </a:rPr>
              <a:t>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7668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5955" y="2660903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7123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One instance of a business process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one order, one purchase — moving across stages</a:t>
            </a:r>
          </a:p>
        </p:txBody>
      </p:sp>
      <p:sp>
        <p:nvSpPr>
          <p:cNvPr id="20" name="Oval 19"/>
          <p:cNvSpPr/>
          <p:nvPr/>
        </p:nvSpPr>
        <p:spPr>
          <a:xfrm>
            <a:off x="6505955" y="3337559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7123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Has a stage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frozen stage list · title · amount · counterparty</a:t>
            </a:r>
          </a:p>
        </p:txBody>
      </p:sp>
      <p:sp>
        <p:nvSpPr>
          <p:cNvPr id="22" name="Oval 21"/>
          <p:cNvSpPr/>
          <p:nvPr/>
        </p:nvSpPr>
        <p:spPr>
          <a:xfrm>
            <a:off x="6505955" y="4014215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7123" y="3931920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Lives in 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480560"/>
            <a:ext cx="10268712" cy="1170432"/>
          </a:xfrm>
          <a:prstGeom prst="roundRect">
            <a:avLst>
              <a:gd name="adj" fmla="val 6000"/>
            </a:avLst>
          </a:prstGeom>
          <a:solidFill>
            <a:srgbClr val="17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617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39B7FF"/>
                </a:solidFill>
                <a:latin typeface="Segoe UI Semibold"/>
                <a:cs typeface="Segoe UI Semibold"/>
              </a:rPr>
              <a:t>THE 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37760"/>
            <a:ext cx="9628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Advancing a stage doesn't create, assign, or close any task. Closing a task doesn't advance any workflow. They share only a decision_id when spawned from the same voice capture — nothing else touches them together.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Three cards, three shapes, one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10268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4BE"/>
                </a:solidFill>
                <a:latin typeface="Segoe UI"/>
                <a:cs typeface="Segoe UI"/>
              </a:rPr>
              <a:t>Settings is one long scroll of eight cards. Three describe the same thing — three different ways, each with its own Save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7830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285" y="2331720"/>
            <a:ext cx="253437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COMPANY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1820" y="2331720"/>
            <a:ext cx="236740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BUSINESS VOCABULARY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6384" y="2331720"/>
            <a:ext cx="303528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OPERATING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75234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62072"/>
            <a:ext cx="1755573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285" y="2862072"/>
            <a:ext cx="250694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Free-text names → workflow_templates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1820" y="2862072"/>
            <a:ext cx="233997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Three fixed labels → lexicon.workflows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6384" y="2862072"/>
            <a:ext cx="300785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Full pipelines + approval gates → operating_model.pipelines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593591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48456"/>
            <a:ext cx="1755573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Task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285" y="3648456"/>
            <a:ext cx="250694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Fixed enum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1820" y="3648456"/>
            <a:ext cx="233997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Six fixed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6384" y="3648456"/>
            <a:ext cx="300785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Dynamic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379976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34840"/>
            <a:ext cx="1755573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Approvals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285" y="4434840"/>
            <a:ext cx="250694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Free-text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1820" y="4434840"/>
            <a:ext cx="233997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6384" y="4434840"/>
            <a:ext cx="300785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Per-pipeline owner sign-off stage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212080"/>
            <a:ext cx="10268712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5212080"/>
            <a:ext cx="97200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All three feel authoritative; only </a:t>
            </a:r>
            <a:r>
              <a:rPr sz="1250" b="0" i="0">
                <a:solidFill>
                  <a:srgbClr val="39B7FF"/>
                </a:solidFill>
                <a:latin typeface="Segoe UI Semibold"/>
                <a:cs typeface="Segoe UI Semibold"/>
              </a:rPr>
              <a:t>Operating Model</a:t>
            </a: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 actually drives behaviour — and it's the least discoverable.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The Kapoor order — what happens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68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DCE6FF"/>
                </a:solidFill>
                <a:latin typeface="Segoe UI"/>
                <a:cs typeface="Segoe UI"/>
              </a:rPr>
              <a:t>“We got an order from Kapoor Retail for 500m cotton, ₹80k, deliver by Friday.”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77440"/>
            <a:ext cx="4997196" cy="2148840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59689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39B7FF"/>
                </a:solidFill>
                <a:latin typeface="Segoe UI Semibold"/>
                <a:cs typeface="Segoe UI Semibold"/>
              </a:rPr>
              <a:t>WHAT THE AI CREATES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6152" y="296265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3209544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312724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Workflow card “Order — Kapoor Retail”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placed at stage Booked in the Sales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3886200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5608" y="3803904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Two tasks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“Confirm order” (Sales) · “Prepare invoice” (Finance)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377440"/>
            <a:ext cx="4997196" cy="2148840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9689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2E6BFF"/>
                </a:solidFill>
                <a:latin typeface="Segoe UI Semibold"/>
                <a:cs typeface="Segoe UI Semibold"/>
              </a:rPr>
              <a:t>WHAT HAPPENS 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7668" y="296265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5955" y="3209544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7123" y="312724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The card just… sits at Booked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until someone opens Workflows and clicks Advance</a:t>
            </a:r>
          </a:p>
        </p:txBody>
      </p:sp>
      <p:sp>
        <p:nvSpPr>
          <p:cNvPr id="19" name="Oval 18"/>
          <p:cNvSpPr/>
          <p:nvPr/>
        </p:nvSpPr>
        <p:spPr>
          <a:xfrm>
            <a:off x="6505955" y="3886200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7123" y="3803904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Tasks flow todo → done independently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Priya closing hers never moves the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10268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 Semibold"/>
                <a:cs typeface="Segoe UI Semibold"/>
              </a:rPr>
              <a:t>The board and the work are two views of two different truths.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39B7FF"/>
              </a:gs>
              <a:gs pos="28000">
                <a:srgbClr val="2E6BFF"/>
              </a:gs>
              <a:gs pos="70000">
                <a:srgbClr val="0B1E63"/>
              </a:gs>
              <a:gs pos="100000">
                <a:srgbClr val="081235"/>
              </a:gs>
            </a:gsLst>
            <a:path path="circle">
              <a:fillToRect l="32000" t="38000" r="68000" b="62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58368" y="585216"/>
            <a:ext cx="237744" cy="237744"/>
          </a:xfrm>
          <a:prstGeom prst="diamond">
            <a:avLst/>
          </a:prstGeom>
          <a:gradFill>
            <a:gsLst>
              <a:gs pos="0">
                <a:srgbClr val="39B7FF"/>
              </a:gs>
              <a:gs pos="100000">
                <a:srgbClr val="2E6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3949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spc="30">
                <a:solidFill>
                  <a:srgbClr val="FFFFFF"/>
                </a:solidFill>
                <a:latin typeface="Segoe UI Semibold"/>
                <a:cs typeface="Segoe UI Semibold"/>
              </a:rPr>
              <a:t>DecisionOS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603504"/>
            <a:ext cx="146304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F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594360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60">
                <a:solidFill>
                  <a:srgbClr val="D6E4FF"/>
                </a:solidFill>
                <a:latin typeface="Segoe UI Semibold"/>
                <a:cs typeface="Segoe UI Semibold"/>
              </a:rPr>
              <a:t>02 ·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0">
                <a:solidFill>
                  <a:srgbClr val="FFFFFF"/>
                </a:solidFill>
                <a:latin typeface="Segoe UI Light"/>
                <a:cs typeface="Segoe UI Light"/>
              </a:rPr>
              <a:t>One lifecycle, </a:t>
            </a:r>
            <a:r>
              <a:rPr sz="4600" b="0" i="0">
                <a:solidFill>
                  <a:srgbClr val="FFFFFF"/>
                </a:solidFill>
                <a:latin typeface="Segoe UI Semibold"/>
                <a:cs typeface="Segoe UI Semibold"/>
              </a:rPr>
              <a:t>one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4048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D8E2FF"/>
                </a:solidFill>
                <a:latin typeface="Segoe UI"/>
                <a:cs typeface="Segoe UI"/>
              </a:rPr>
              <a:t>The workflow becomes the engine. Each stage owns the tasks and approvals that define what “being at this stage” means — completing them moves the card. The founder configures once and watches the business run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02.1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A stage is a contract, not a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4BE"/>
                </a:solidFill>
                <a:latin typeface="Segoe UI"/>
                <a:cs typeface="Segoe UI"/>
              </a:rPr>
              <a:t>Each stage declares four things:</a:t>
            </a:r>
          </a:p>
        </p:txBody>
      </p:sp>
      <p:sp>
        <p:nvSpPr>
          <p:cNvPr id="7" name="Oval 6"/>
          <p:cNvSpPr/>
          <p:nvPr/>
        </p:nvSpPr>
        <p:spPr>
          <a:xfrm>
            <a:off x="1370868" y="1938527"/>
            <a:ext cx="9447215" cy="1554480"/>
          </a:xfrm>
          <a:prstGeom prst="ellipse">
            <a:avLst/>
          </a:prstGeom>
          <a:gradFill>
            <a:gsLst>
              <a:gs pos="0">
                <a:srgbClr val="2E6BFF">
                  <a:alpha val="52000"/>
                </a:srgbClr>
              </a:gs>
              <a:gs pos="45000">
                <a:srgbClr val="2E6BFF">
                  <a:alpha val="26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7298" y="2212848"/>
            <a:ext cx="5134356" cy="1005840"/>
          </a:xfrm>
          <a:prstGeom prst="ellipse">
            <a:avLst/>
          </a:prstGeom>
          <a:gradFill>
            <a:gsLst>
              <a:gs pos="0">
                <a:srgbClr val="39B7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Which tasks 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On entry, tasks are created for the named roles and become the current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4729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4729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Who must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29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A role, a specific owner, or nobody. Skipping the gate is impossible.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1908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1908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What advances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1908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Default: all tasks done AND all approvals recorded. Override is audited.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1654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9086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9086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What side-effects fire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9086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On entry/exit — the procurement → awaiting-bill expense generalises to any stage.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Same capture — now the card owns the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2375154" cy="1737360"/>
          </a:xfrm>
          <a:prstGeom prst="roundRect">
            <a:avLst>
              <a:gd name="adj" fmla="val 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86000"/>
            <a:ext cx="2375154" cy="64008"/>
          </a:xfrm>
          <a:prstGeom prst="roundRect">
            <a:avLst>
              <a:gd name="adj" fmla="val 50000"/>
            </a:avLst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0093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egoe UI Semibold"/>
                <a:cs typeface="Segoe UI Semibold"/>
              </a:rPr>
              <a:t>Booked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2944368"/>
            <a:ext cx="73152" cy="7315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9504"/>
            <a:ext cx="18265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CDE"/>
                </a:solidFill>
                <a:latin typeface="Segoe UI"/>
                <a:cs typeface="Segoe UI"/>
              </a:rPr>
              <a:t>Confirm with customer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590"/>
                </a:solidFill>
                <a:latin typeface="Segoe UI"/>
                <a:cs typeface="Segoe UI"/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6986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AA4BE"/>
                </a:solidFill>
                <a:latin typeface="Segoe UI Light"/>
                <a:cs typeface="Segoe UI Ligh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1306" y="2286000"/>
            <a:ext cx="2375154" cy="1737360"/>
          </a:xfrm>
          <a:prstGeom prst="roundRect">
            <a:avLst>
              <a:gd name="adj" fmla="val 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1306" y="2286000"/>
            <a:ext cx="2375154" cy="6400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4186" y="2468880"/>
            <a:ext cx="20093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egoe UI Semibold"/>
                <a:cs typeface="Segoe UI Semibold"/>
              </a:rPr>
              <a:t>Confirmed</a:t>
            </a:r>
          </a:p>
        </p:txBody>
      </p:sp>
      <p:sp>
        <p:nvSpPr>
          <p:cNvPr id="15" name="Oval 14"/>
          <p:cNvSpPr/>
          <p:nvPr/>
        </p:nvSpPr>
        <p:spPr>
          <a:xfrm>
            <a:off x="3792474" y="2944368"/>
            <a:ext cx="73152" cy="73152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7066" y="2889504"/>
            <a:ext cx="18265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CDE"/>
                </a:solidFill>
                <a:latin typeface="Segoe UI"/>
                <a:cs typeface="Segoe UI"/>
              </a:rPr>
              <a:t>Prepare invoice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590"/>
                </a:solidFill>
                <a:latin typeface="Segoe UI"/>
                <a:cs typeface="Segoe UI"/>
              </a:rPr>
              <a:t>Finance</a:t>
            </a:r>
          </a:p>
        </p:txBody>
      </p:sp>
      <p:sp>
        <p:nvSpPr>
          <p:cNvPr id="17" name="Oval 16"/>
          <p:cNvSpPr/>
          <p:nvPr/>
        </p:nvSpPr>
        <p:spPr>
          <a:xfrm>
            <a:off x="3792474" y="3346704"/>
            <a:ext cx="73152" cy="73152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7066" y="3291840"/>
            <a:ext cx="18265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CDE"/>
                </a:solidFill>
                <a:latin typeface="Segoe UI"/>
                <a:cs typeface="Segoe UI"/>
              </a:rPr>
              <a:t>Approval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590"/>
                </a:solidFill>
                <a:latin typeface="Segoe UI"/>
                <a:cs typeface="Segoe U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8172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AA4BE"/>
                </a:solidFill>
                <a:latin typeface="Segoe UI Light"/>
                <a:cs typeface="Segoe UI Ligh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2492" y="2286000"/>
            <a:ext cx="2375154" cy="1737360"/>
          </a:xfrm>
          <a:prstGeom prst="roundRect">
            <a:avLst>
              <a:gd name="adj" fmla="val 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2492" y="2286000"/>
            <a:ext cx="2375154" cy="64008"/>
          </a:xfrm>
          <a:prstGeom prst="roundRect">
            <a:avLst>
              <a:gd name="adj" fmla="val 50000"/>
            </a:avLst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5372" y="2468880"/>
            <a:ext cx="20093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egoe UI Semibold"/>
                <a:cs typeface="Segoe UI Semibold"/>
              </a:rPr>
              <a:t>Dispatched</a:t>
            </a:r>
          </a:p>
        </p:txBody>
      </p:sp>
      <p:sp>
        <p:nvSpPr>
          <p:cNvPr id="23" name="Oval 22"/>
          <p:cNvSpPr/>
          <p:nvPr/>
        </p:nvSpPr>
        <p:spPr>
          <a:xfrm>
            <a:off x="6423660" y="2944368"/>
            <a:ext cx="73152" cy="7315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8252" y="2889504"/>
            <a:ext cx="18265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CDE"/>
                </a:solidFill>
                <a:latin typeface="Segoe UI"/>
                <a:cs typeface="Segoe UI"/>
              </a:rPr>
              <a:t>Pack &amp; ship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590"/>
                </a:solidFill>
                <a:latin typeface="Segoe UI"/>
                <a:cs typeface="Segoe UI"/>
              </a:rPr>
              <a:t>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9358" y="292608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AA4BE"/>
                </a:solidFill>
                <a:latin typeface="Segoe UI Light"/>
                <a:cs typeface="Segoe UI Light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3678" y="2286000"/>
            <a:ext cx="2375154" cy="1737360"/>
          </a:xfrm>
          <a:prstGeom prst="roundRect">
            <a:avLst>
              <a:gd name="adj" fmla="val 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53678" y="2286000"/>
            <a:ext cx="2375154" cy="64008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6558" y="2468880"/>
            <a:ext cx="20093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egoe UI Semibold"/>
                <a:cs typeface="Segoe UI Semibold"/>
              </a:rPr>
              <a:t>Paid</a:t>
            </a:r>
          </a:p>
        </p:txBody>
      </p:sp>
      <p:sp>
        <p:nvSpPr>
          <p:cNvPr id="29" name="Oval 28"/>
          <p:cNvSpPr/>
          <p:nvPr/>
        </p:nvSpPr>
        <p:spPr>
          <a:xfrm>
            <a:off x="9054846" y="2944368"/>
            <a:ext cx="73152" cy="73152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9438" y="2889504"/>
            <a:ext cx="182651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CCDE"/>
                </a:solidFill>
                <a:latin typeface="Segoe UI"/>
                <a:cs typeface="Segoe UI"/>
              </a:rPr>
              <a:t>Mark invoice paid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590"/>
                </a:solidFill>
                <a:latin typeface="Segoe UI"/>
                <a:cs typeface="Segoe UI"/>
              </a:rPr>
              <a:t>side-effect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102687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4CCDE"/>
                </a:solidFill>
                <a:latin typeface="Segoe UI"/>
                <a:cs typeface="Segoe UI"/>
              </a:rPr>
              <a:t>Tasks aren't siblings — they're </a:t>
            </a:r>
            <a:r>
              <a:rPr sz="1400" b="0" i="0">
                <a:solidFill>
                  <a:srgbClr val="39B7FF"/>
                </a:solidFill>
                <a:latin typeface="Segoe UI Semibold"/>
                <a:cs typeface="Segoe UI Semibold"/>
              </a:rPr>
              <a:t>children</a:t>
            </a:r>
            <a:r>
              <a:rPr sz="1400" b="0" i="0">
                <a:solidFill>
                  <a:srgbClr val="C4CCDE"/>
                </a:solidFill>
                <a:latin typeface="Segoe UI"/>
                <a:cs typeface="Segoe UI"/>
              </a:rPr>
              <a:t> of the card. Priya closing “Confirm with customer” fires the transition check; when it passes the card moves to Confirmed and the next task appears in Finance's queue. My Work stops asking “which task next?” — it shows the tasks the pipeline is generating.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03.1 · 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Three changes — everything else is deletion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3898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6265" y="1828800"/>
            <a:ext cx="535540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PROPOSED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942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461155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tasks — no link to a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6265" y="2359152"/>
            <a:ext cx="532797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tasks.workflow_id · tasks.stage_key (every task knows its parent card + stage)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962656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461155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workflows.stages[] — a flat list of strings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6265" y="3017520"/>
            <a:ext cx="532797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pipelines[].stages[] — objects: {key, label, tasks[], approval, side_effects[]}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621023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75887"/>
            <a:ext cx="461155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tenant.workflow_templates — dead brainstorm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6265" y="3675887"/>
            <a:ext cx="532797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279392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5"/>
            <a:ext cx="461155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lexicon.workflows — three hardcoded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6265" y="4334255"/>
            <a:ext cx="532797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937759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92623"/>
            <a:ext cx="461155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operating_model.pipelines — real, but unlinked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6265" y="4992623"/>
            <a:ext cx="532797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The single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One module, three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spc="40">
                <a:solidFill>
                  <a:srgbClr val="39B7FF"/>
                </a:solidFill>
                <a:latin typeface="Segoe UI Semibold"/>
                <a:cs typeface="Segoe UI Semibold"/>
              </a:rPr>
              <a:t>services/workflow_engine.py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3016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8939" y="2240280"/>
            <a:ext cx="281509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FIRES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1193" y="2240280"/>
            <a:ext cx="474047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66090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70632"/>
            <a:ext cx="22742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on_stage_enter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939" y="2770632"/>
            <a:ext cx="278766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Card arrives at a new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1193" y="2770632"/>
            <a:ext cx="471304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Spawns the stage's tasks for named roles, records a timeline entry, dispatches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502152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57016"/>
            <a:ext cx="22742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check_stage_ready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8939" y="3557016"/>
            <a:ext cx="278766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A task closes, or an approval is recorded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1193" y="3557016"/>
            <a:ext cx="471304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True only if every stage task is done AND every required approval is present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288536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22742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advance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939" y="4343400"/>
            <a:ext cx="278766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Task closer, approver, or manual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193" y="4343400"/>
            <a:ext cx="471304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On pass → transition + re-enter on_stage_enter. Terminal stage → fire side-effects, mark 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257800"/>
            <a:ext cx="10268712" cy="50292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97200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The engine is the only path that writes  </a:t>
            </a:r>
            <a:r>
              <a:rPr sz="1200" b="0" i="0">
                <a:solidFill>
                  <a:srgbClr val="39B7FF"/>
                </a:solidFill>
                <a:latin typeface="Segoe UI Semibold"/>
                <a:cs typeface="Segoe UI Semibold"/>
              </a:rPr>
              <a:t>workflows.stage</a:t>
            </a: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.  Manual advance goes through it too, with an audited override. No more silent kanban drags.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Three migrations — routed through the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spc="40">
                <a:solidFill>
                  <a:srgbClr val="9AA4BE"/>
                </a:solidFill>
                <a:latin typeface="Segoe UI"/>
                <a:cs typeface="Segoe UI"/>
              </a:rPr>
              <a:t>One-time · exactly-once · safe on replica restart</a:t>
            </a:r>
          </a:p>
        </p:txBody>
      </p:sp>
      <p:sp>
        <p:nvSpPr>
          <p:cNvPr id="7" name="Oval 6"/>
          <p:cNvSpPr/>
          <p:nvPr/>
        </p:nvSpPr>
        <p:spPr>
          <a:xfrm>
            <a:off x="1370868" y="1984248"/>
            <a:ext cx="9447215" cy="1554480"/>
          </a:xfrm>
          <a:prstGeom prst="ellipse">
            <a:avLst/>
          </a:prstGeom>
          <a:gradFill>
            <a:gsLst>
              <a:gs pos="0">
                <a:srgbClr val="2E6BFF">
                  <a:alpha val="52000"/>
                </a:srgbClr>
              </a:gs>
              <a:gs pos="45000">
                <a:srgbClr val="2E6BFF">
                  <a:alpha val="26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7298" y="2258568"/>
            <a:ext cx="5134356" cy="1005840"/>
          </a:xfrm>
          <a:prstGeom prst="ellipse">
            <a:avLst/>
          </a:prstGeom>
          <a:gradFill>
            <a:gsLst>
              <a:gs pos="0">
                <a:srgbClr val="39B7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2400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3310128"/>
            <a:ext cx="2965704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419856"/>
            <a:ext cx="3102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Backfill the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49040"/>
            <a:ext cx="3102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Set tasks.workflow_id + stage_key via decision_id. No match → fields stay null, task works as ad-hoc.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024" y="2240280"/>
            <a:ext cx="32400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0456" y="3310128"/>
            <a:ext cx="2965704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0456" y="3419856"/>
            <a:ext cx="3102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Convert the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0456" y="3749040"/>
            <a:ext cx="3102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Flat strings → objects {key,label,tasks:[],approval:null}. Empty templates preserve today's behaviour.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5928" y="2240280"/>
            <a:ext cx="32400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3360" y="3310128"/>
            <a:ext cx="2965704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3360" y="3419856"/>
            <a:ext cx="3102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Drop the ghosts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3360" y="3749040"/>
            <a:ext cx="3102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Remove workflow_templates + lexicon.workflows. Nothing writes them; no reader depends on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04.1 ·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Eight scattered cards → four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198740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681" y="1874519"/>
            <a:ext cx="800699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WHAT LIVES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195996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4681" y="2404872"/>
            <a:ext cx="797955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Company profile, products, industry, team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26664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195996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4681" y="3081528"/>
            <a:ext cx="797955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Pipelines. Each shows its stages inline; each stage shows task templates + approval rule. The only place workflow config lives.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70332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4"/>
            <a:ext cx="195996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4681" y="3758184"/>
            <a:ext cx="797955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Finance categories, high-value approval threshold, currency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379976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95996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4681" y="4434840"/>
            <a:ext cx="797955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Language, profile,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10268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Operations tab — one hierarchy: </a:t>
            </a: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Pipeline → Stages → Tasks + Approval.</a:t>
            </a: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  Add a task template inline; set an approval via dropdown.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My Work + Workflow, joined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5304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7716" y="1874519"/>
            <a:ext cx="546395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PROPOSED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45030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Tasks with no context about which card they belong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7716" y="2404872"/>
            <a:ext cx="54365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Every task carries a stage chip — “Order #4821 · Confirmed”. Click to open the parent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08375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63239"/>
            <a:ext cx="45030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Cards with no context about the tasks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7716" y="3063239"/>
            <a:ext cx="54365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Every card lists its current stage's open tasks inline, with the assignee's avatar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666744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21607"/>
            <a:ext cx="45030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Two views, two truths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7716" y="3721607"/>
            <a:ext cx="5436523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Same data, two lenses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The Advance button stays but is rarely needed — cards advance themselves when the stage contract is satisfied. A manual click asks for a reason, recorded in history, so the audit trail knows why the engine was overridden.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05 ·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Segoe UI Semibold"/>
                <a:cs typeface="Segoe UI Semibold"/>
              </a:rPr>
              <a:t>No big-bang — three valuable, reversible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011680"/>
            <a:ext cx="3209544" cy="3566160"/>
          </a:xfrm>
          <a:prstGeom prst="roundRect">
            <a:avLst>
              <a:gd name="adj" fmla="val 7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597" y="1828800"/>
            <a:ext cx="2888589" cy="1371600"/>
          </a:xfrm>
          <a:prstGeom prst="ellipse">
            <a:avLst/>
          </a:prstGeom>
          <a:gradFill>
            <a:gsLst>
              <a:gs pos="0">
                <a:srgbClr val="2E6B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cs typeface="Segoe UI Light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063240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E6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5409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AFC3F5"/>
                </a:solidFill>
                <a:latin typeface="Segoe UI Semibold"/>
                <a:cs typeface="Segoe UI Semibold"/>
              </a:rPr>
              <a:t>~1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2706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  <a:cs typeface="Segoe UI Semibold"/>
              </a:rPr>
              <a:t>Unify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69080"/>
            <a:ext cx="27066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A4BE"/>
                </a:solidFill>
                <a:latin typeface="Segoe UI"/>
                <a:cs typeface="Segoe UI"/>
              </a:rPr>
              <a:t>Kill the ghost collections, add workflow_id + stage_key with a backfill, ship the Settings tabs. Behaviour unchanged; confusion gone.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2011680"/>
            <a:ext cx="3209544" cy="3566160"/>
          </a:xfrm>
          <a:prstGeom prst="roundRect">
            <a:avLst>
              <a:gd name="adj" fmla="val 7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0181" y="1828800"/>
            <a:ext cx="2888589" cy="1371600"/>
          </a:xfrm>
          <a:prstGeom prst="ellipse">
            <a:avLst/>
          </a:prstGeom>
          <a:gradFill>
            <a:gsLst>
              <a:gs pos="0">
                <a:srgbClr val="2E6B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2194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cs typeface="Segoe UI Light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4" y="3063240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E6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305409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AFC3F5"/>
                </a:solidFill>
                <a:latin typeface="Segoe UI Semibold"/>
                <a:cs typeface="Segoe UI Semibold"/>
              </a:rPr>
              <a:t>~2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3611880"/>
            <a:ext cx="2706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  <a:cs typeface="Segoe UI Semibold"/>
              </a:rPr>
              <a:t>Introduce the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4069080"/>
            <a:ext cx="27066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A4BE"/>
                </a:solidFill>
                <a:latin typeface="Segoe UI"/>
                <a:cs typeface="Segoe UI"/>
              </a:rPr>
              <a:t>Ship workflow_engine.py, migrate stages to objects, wire on_stage_enter + advance. Existing cards keep working; new cards use the engine as owners fill templates.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9288" y="2011680"/>
            <a:ext cx="3209544" cy="3566160"/>
          </a:xfrm>
          <a:prstGeom prst="roundRect">
            <a:avLst>
              <a:gd name="adj" fmla="val 7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9765" y="1828800"/>
            <a:ext cx="2888589" cy="1371600"/>
          </a:xfrm>
          <a:prstGeom prst="ellipse">
            <a:avLst/>
          </a:prstGeom>
          <a:gradFill>
            <a:gsLst>
              <a:gs pos="0">
                <a:srgbClr val="2E6B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194560"/>
            <a:ext cx="2660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 i="0">
                <a:solidFill>
                  <a:srgbClr val="FFFFFF"/>
                </a:solidFill>
                <a:latin typeface="Segoe UI Light"/>
                <a:cs typeface="Segoe UI Light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063240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E6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05409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AFC3F5"/>
                </a:solidFill>
                <a:latin typeface="Segoe UI Semibold"/>
                <a:cs typeface="Segoe UI Semibold"/>
              </a:rPr>
              <a:t>~1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611880"/>
            <a:ext cx="2706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Segoe UI Semibold"/>
                <a:cs typeface="Segoe UI Semibold"/>
              </a:rPr>
              <a:t>The joined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069080"/>
            <a:ext cx="27066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AA4BE"/>
                </a:solidFill>
                <a:latin typeface="Segoe UI"/>
                <a:cs typeface="Segoe UI"/>
              </a:rPr>
              <a:t>Stage chips on My Work, inline task lists on cards, manual advance needs a reason. Retire the redundant Board sub-tab.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0679" y="2377439"/>
            <a:ext cx="6858000" cy="3657600"/>
          </a:xfrm>
          <a:prstGeom prst="ellipse">
            <a:avLst/>
          </a:prstGeom>
          <a:gradFill>
            <a:gsLst>
              <a:gs pos="0">
                <a:srgbClr val="2E6B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05 · SCOPE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 Light"/>
                <a:cs typeface="Segoe UI Light"/>
              </a:rPr>
              <a:t>What we're deliberately </a:t>
            </a:r>
            <a:r>
              <a:rPr sz="3000" b="0" i="0">
                <a:solidFill>
                  <a:srgbClr val="39B7FF"/>
                </a:solidFill>
                <a:latin typeface="Segoe UI Semibold"/>
                <a:cs typeface="Segoe UI Semibold"/>
              </a:rPr>
              <a:t>not</a:t>
            </a:r>
            <a:r>
              <a:rPr sz="3000" b="0" i="0">
                <a:solidFill>
                  <a:srgbClr val="FFFFFF"/>
                </a:solidFill>
                <a:latin typeface="Segoe UI Light"/>
                <a:cs typeface="Segoe UI Light"/>
              </a:rPr>
              <a:t> doing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4BE"/>
                </a:solidFill>
                <a:latin typeface="Segoe UI"/>
                <a:cs typeface="Segoe UI"/>
              </a:rPr>
              <a:t>Each is real; none are needed to earn back trust in the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291840"/>
            <a:ext cx="3070555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705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Cross-pipeline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9275" y="3291840"/>
            <a:ext cx="1453896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9275" y="3291840"/>
            <a:ext cx="1453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SLA timers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1771" y="3291840"/>
            <a:ext cx="2214676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1771" y="3291840"/>
            <a:ext cx="22146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Workload balancing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5047" y="3291840"/>
            <a:ext cx="2024481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3291840"/>
            <a:ext cx="202448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Forecast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343400"/>
            <a:ext cx="10268712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102687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  <a:cs typeface="Segoe UI Semibold"/>
              </a:rPr>
              <a:t>Ship the engine, watch what happens, then decide what deserves the next investment.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The workflow, as an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