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38928"/>
            <a:ext cx="12191695" cy="82296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98480" y="502920"/>
            <a:ext cx="292608" cy="292608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502920"/>
            <a:ext cx="292608" cy="292608"/>
          </a:xfrm>
          <a:prstGeom prst="rect">
            <a:avLst/>
          </a:prstGeom>
          <a:solidFill>
            <a:srgbClr val="F2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21440" y="502920"/>
            <a:ext cx="292608" cy="292608"/>
          </a:xfrm>
          <a:prstGeom prst="rect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B8A6"/>
                </a:solidFill>
                <a:latin typeface="Segoe UI"/>
              </a:rPr>
              <a:t>BUSINESS BRIEFING  ·  ENGINEERING →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From single-app to sellable platform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C7D6E0"/>
                </a:solidFill>
                <a:latin typeface="Segoe UI"/>
              </a:rPr>
              <a:t>How we re-built the DecisionOS backend for multi-tenant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FC3D0"/>
                </a:solidFill>
                <a:latin typeface="Segoe UI"/>
              </a:rPr>
              <a:t>What the backend was  ·  What we fixed  ·  What's left  ·  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E95A6"/>
                </a:solidFill>
                <a:latin typeface="Segoe UI"/>
              </a:rPr>
              <a:t>Prepared 10 Aug 2026  ·  Status: 44 of 83 hardening items shipped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B8A6"/>
                </a:solidFill>
                <a:latin typeface="Segoe U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The one-slide 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3611880" cy="109728"/>
          </a:xfrm>
          <a:prstGeom prst="rect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15554"/>
                </a:solidFill>
                <a:latin typeface="Segoe UI"/>
              </a:rPr>
              <a:t>WHERE WE STARTED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312724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B2B38"/>
                </a:solidFill>
                <a:latin typeface="Segoe UI"/>
              </a:rPr>
              <a:t>One company's app.
Data, logins and AI all shared a single space — not safe to sell to many businesses.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4173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417320"/>
            <a:ext cx="3611880" cy="109728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B8A6"/>
                </a:solidFill>
                <a:latin typeface="Segoe UI"/>
              </a:rPr>
              <a:t>WHAT WE'VE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194560"/>
            <a:ext cx="312724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B2B38"/>
                </a:solidFill>
                <a:latin typeface="Segoe UI"/>
              </a:rPr>
              <a:t>44 of 83 fixes shipped.
Each customer is now walled off. Logins, roles, plans, usage limits and audit trails are in 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4173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417320"/>
            <a:ext cx="3611880" cy="109728"/>
          </a:xfrm>
          <a:prstGeom prst="rect">
            <a:avLst/>
          </a:prstGeom>
          <a:solidFill>
            <a:srgbClr val="F2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5" y="1737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24B"/>
                </a:solidFill>
                <a:latin typeface="Segoe UI"/>
              </a:rPr>
              <a:t>WHAT'S LEFT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2194560"/>
            <a:ext cx="312724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B2B38"/>
                </a:solidFill>
                <a:latin typeface="Segoe UI"/>
              </a:rPr>
              <a:t>39 items, in 4 buckets.
Go-live security, billing, smarter AI, and production operations — sequenced below.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34840"/>
            <a:ext cx="11091672" cy="160020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B8A6"/>
                </a:solidFill>
                <a:latin typeface="Segoe UI"/>
              </a:rPr>
              <a:t>THE HEADLINE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377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Segoe UI"/>
              </a:rPr>
              <a:t>The platform is now safe to run many customers on the same system. Before we open sign-ups to the public, we still need go-live security hardening, real billing, and production monitoring &amp; backups.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B8A6"/>
                </a:solidFill>
                <a:latin typeface="Segoe UI"/>
              </a:rPr>
              <a:t>WHY WE DID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The business goal driving every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B2B38"/>
                </a:solidFill>
                <a:latin typeface="Segoe UI"/>
              </a:rPr>
              <a:t>We are turning DecisionOS from a tool built for one company into a product we can sell to hundreds of Indian SMEs — all running on one shared platform, each fully isolated from the others.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91440" cy="1051560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4780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Segoe UI"/>
              </a:rPr>
              <a:t>Sell to many, not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34639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A"/>
                </a:solidFill>
                <a:latin typeface="Segoe UI"/>
              </a:rPr>
              <a:t>Onboard a new business in minutes without spinning up separate servers or copies of the 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331720"/>
            <a:ext cx="91440" cy="1051560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47802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Segoe UI"/>
              </a:rPr>
              <a:t>Keep every customer's data private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34639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A"/>
                </a:solidFill>
                <a:latin typeface="Segoe UI"/>
              </a:rPr>
              <a:t>Company A can never see Company B's data — even by accident or by guessing a link.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38728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38728"/>
            <a:ext cx="91440" cy="1051560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685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Segoe UI"/>
              </a:rPr>
              <a:t>Charge money reliably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041648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A"/>
                </a:solidFill>
                <a:latin typeface="Segoe UI"/>
              </a:rPr>
              <a:t>Plans, seat limits and usage caps so revenue is predictable and abuse is contained.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38728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538728"/>
            <a:ext cx="91440" cy="1051560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685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Segoe UI"/>
              </a:rPr>
              <a:t>Pass a buyer's security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41648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A"/>
                </a:solidFill>
                <a:latin typeface="Segoe UI"/>
              </a:rPr>
              <a:t>Larger clients will audit us. Logins, 2-factor, roles and audit trails are table-stakes to win them.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45736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745736"/>
            <a:ext cx="91440" cy="1051560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892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Segoe UI"/>
              </a:rPr>
              <a:t>Meet Indian data law (DPDP)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248655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A"/>
                </a:solidFill>
                <a:latin typeface="Segoe UI"/>
              </a:rPr>
              <a:t>Track consent for AI features; keep records regulators expect.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745736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745736"/>
            <a:ext cx="91440" cy="1051560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892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Segoe UI"/>
              </a:rPr>
              <a:t>Launch without surprises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248655"/>
            <a:ext cx="4983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A"/>
                </a:solidFill>
                <a:latin typeface="Segoe UI"/>
              </a:rPr>
              <a:t>Monitoring, backups and staged rollout so problems are caught before customers feel them.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B8A6"/>
                </a:solidFill>
                <a:latin typeface="Segoe UI"/>
              </a:rPr>
              <a:t>PLAIN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What “multi-tenant SaaS” actually means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257800" cy="44805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B8A6"/>
                </a:solidFill>
                <a:latin typeface="Segoe UI"/>
              </a:rPr>
              <a:t>THE APARTMENT-BUILDING ANALOGY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4800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0F2A43"/>
                </a:solidFill>
                <a:latin typeface="Segoe UI"/>
              </a:rPr>
              <a:t>One building. Many tenants.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2B38"/>
                </a:solidFill>
                <a:latin typeface="Segoe UI"/>
              </a:rPr>
              <a:t>Everyone shares the same building, plumbing and front desk — that's cheap and easy to run.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2B38"/>
                </a:solidFill>
                <a:latin typeface="Segoe UI"/>
              </a:rPr>
              <a:t>But every flat has its own locked door and its own key. No tenant can walk into another's flat.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B2B38"/>
                </a:solidFill>
                <a:latin typeface="Segoe UI"/>
              </a:rPr>
              <a:t>The landlord (us) can see who lives where and bill each flat — but never rummage through their things.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E7D5B"/>
                </a:solidFill>
                <a:latin typeface="Segoe UI"/>
              </a:rPr>
              <a:t>Our job this quarter: build the locked doors, the keys, the billing, and the building's security desk.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417320"/>
            <a:ext cx="5605272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2A24B"/>
                </a:solidFill>
                <a:latin typeface="Segoe UI"/>
              </a:rPr>
              <a:t>HOW THAT MAPS TO THE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48840"/>
            <a:ext cx="2331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43"/>
                </a:solidFill>
                <a:latin typeface="Segoe UI"/>
              </a:rPr>
              <a:t>The building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48840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A24B"/>
                </a:solidFill>
                <a:latin typeface="Segoe U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14884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One DecisionOS platform, one codebase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52344"/>
            <a:ext cx="2331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43"/>
                </a:solidFill>
                <a:latin typeface="Segoe UI"/>
              </a:rPr>
              <a:t>A flat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752344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A24B"/>
                </a:solidFill>
                <a:latin typeface="Segoe U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752344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A customer company (a “tenant”)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55848"/>
            <a:ext cx="2331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43"/>
                </a:solidFill>
                <a:latin typeface="Segoe UI"/>
              </a:rPr>
              <a:t>The locked door +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355848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A24B"/>
                </a:solidFill>
                <a:latin typeface="Segoe U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355848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Data isolation + login / 2-factor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59352"/>
            <a:ext cx="2331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43"/>
                </a:solidFill>
                <a:latin typeface="Segoe UI"/>
              </a:rPr>
              <a:t>Who's allowed in which 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959352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A24B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959352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Roles &amp; permissions (RBAC)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562856"/>
            <a:ext cx="2331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43"/>
                </a:solidFill>
                <a:latin typeface="Segoe UI"/>
              </a:rPr>
              <a:t>The rent + meter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562856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A24B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562856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Plans, seat limits &amp; usage quotas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166360"/>
            <a:ext cx="2331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43"/>
                </a:solidFill>
                <a:latin typeface="Segoe UI"/>
              </a:rPr>
              <a:t>The security desk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166360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A24B"/>
                </a:solidFill>
                <a:latin typeface="Segoe U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516636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Audit trail of who did what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15554"/>
                </a:solidFill>
                <a:latin typeface="Segoe UI"/>
              </a:rPr>
              <a:t>THE STARTING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What the backend looked like — and the risk in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B38"/>
                </a:solidFill>
                <a:latin typeface="Segoe UI"/>
              </a:rPr>
              <a:t>The app worked well for one company. But it carried assumptions that make it unsafe to sell to many.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5440680" cy="1115568"/>
          </a:xfrm>
          <a:prstGeom prst="roundRect">
            <a:avLst>
              <a:gd name="adj" fmla="val 8000"/>
            </a:avLst>
          </a:prstGeom>
          <a:solidFill>
            <a:srgbClr val="FC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91440" cy="1115568"/>
          </a:xfrm>
          <a:prstGeom prst="rect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18541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9A2A2A"/>
                </a:solidFill>
                <a:latin typeface="Segoe UI"/>
              </a:rPr>
              <a:t>⚠  Everyone in one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6032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All customers would share the same data space — a query mistake could leak one company's data to another.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57400"/>
            <a:ext cx="5440680" cy="1115568"/>
          </a:xfrm>
          <a:prstGeom prst="roundRect">
            <a:avLst>
              <a:gd name="adj" fmla="val 8000"/>
            </a:avLst>
          </a:prstGeom>
          <a:solidFill>
            <a:srgbClr val="FC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057400"/>
            <a:ext cx="91440" cy="1115568"/>
          </a:xfrm>
          <a:prstGeom prst="rect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8541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9A2A2A"/>
                </a:solidFill>
                <a:latin typeface="Segoe UI"/>
              </a:rPr>
              <a:t>⚠  Files open to anyone with the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032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Uploaded files had no ownership check — a guessed web address could pull any company's document.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37560"/>
            <a:ext cx="5440680" cy="1115568"/>
          </a:xfrm>
          <a:prstGeom prst="roundRect">
            <a:avLst>
              <a:gd name="adj" fmla="val 8000"/>
            </a:avLst>
          </a:prstGeom>
          <a:solidFill>
            <a:srgbClr val="FC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337560"/>
            <a:ext cx="91440" cy="1115568"/>
          </a:xfrm>
          <a:prstGeom prst="rect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46557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9A2A2A"/>
                </a:solidFill>
                <a:latin typeface="Segoe UI"/>
              </a:rPr>
              <a:t>⚠  One login list, one shared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8404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No proper roles, no 2-factor, and the same master key secured everything.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337560"/>
            <a:ext cx="5440680" cy="1115568"/>
          </a:xfrm>
          <a:prstGeom prst="roundRect">
            <a:avLst>
              <a:gd name="adj" fmla="val 8000"/>
            </a:avLst>
          </a:prstGeom>
          <a:solidFill>
            <a:srgbClr val="FC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337560"/>
            <a:ext cx="91440" cy="1115568"/>
          </a:xfrm>
          <a:prstGeom prst="rect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46557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9A2A2A"/>
                </a:solidFill>
                <a:latin typeface="Segoe UI"/>
              </a:rPr>
              <a:t>⚠  No plans, no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8404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Nothing stopped a user from burning unlimited (paid) AI usage; no way to charge or cap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617720"/>
            <a:ext cx="5440680" cy="1115568"/>
          </a:xfrm>
          <a:prstGeom prst="roundRect">
            <a:avLst>
              <a:gd name="adj" fmla="val 8000"/>
            </a:avLst>
          </a:prstGeom>
          <a:solidFill>
            <a:srgbClr val="FC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617720"/>
            <a:ext cx="91440" cy="1115568"/>
          </a:xfrm>
          <a:prstGeom prst="rect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74573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9A2A2A"/>
                </a:solidFill>
                <a:latin typeface="Segoe UI"/>
              </a:rPr>
              <a:t>⚠  No record of who did what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12064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No audit trail — impossible to answer “who deleted this?” for a customer or an auditor.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617720"/>
            <a:ext cx="5440680" cy="1115568"/>
          </a:xfrm>
          <a:prstGeom prst="roundRect">
            <a:avLst>
              <a:gd name="adj" fmla="val 8000"/>
            </a:avLst>
          </a:prstGeom>
          <a:solidFill>
            <a:srgbClr val="FC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617720"/>
            <a:ext cx="91440" cy="1115568"/>
          </a:xfrm>
          <a:prstGeom prst="rect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74573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9A2A2A"/>
                </a:solidFill>
                <a:latin typeface="Segoe UI"/>
              </a:rPr>
              <a:t>⚠  Hard-coded shortcuts &amp; test hatches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12064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Default admin passwords and developer test-codes that must never reach real customers.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B8A6"/>
                </a:solidFill>
                <a:latin typeface="Segoe UI"/>
              </a:rPr>
              <a:t>PROGRESS SCOREBOARD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44 of 83 hardening items shipped — zero known regressions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FB8A6"/>
                </a:solidFill>
                <a:latin typeface="Segoe UI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8716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7D6E0"/>
                </a:solidFill>
                <a:latin typeface="Segoe UI"/>
              </a:rPr>
              <a:t>fixes shipped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1645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78308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FB8A6"/>
                </a:solidFill>
                <a:latin typeface="Segoe UI"/>
              </a:rPr>
              <a:t>553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4136" y="248716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7D6E0"/>
                </a:solidFill>
                <a:latin typeface="Segoe UI"/>
              </a:rPr>
              <a:t>automated tests passing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1" y="1645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1" y="178308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2A24B"/>
                </a:solidFill>
                <a:latin typeface="Segoe UI"/>
              </a:rPr>
              <a:t>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1" y="248716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7D6E0"/>
                </a:solidFill>
                <a:latin typeface="Segoe UI"/>
              </a:rPr>
              <a:t>items remaining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5128" y="1645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5128" y="178308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2A24B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248716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7D6E0"/>
                </a:solidFill>
                <a:latin typeface="Segoe UI"/>
              </a:rPr>
              <a:t>buckets left to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2783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7EEF3"/>
                </a:solidFill>
                <a:latin typeface="Segoe UI"/>
              </a:rPr>
              <a:t>Foundation &amp; data isolation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3273551"/>
            <a:ext cx="2377440" cy="201168"/>
          </a:xfrm>
          <a:prstGeom prst="rect">
            <a:avLst/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40" y="3273551"/>
            <a:ext cx="2377440" cy="201168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320040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B8A6"/>
                </a:solidFill>
                <a:latin typeface="Segoe UI"/>
              </a:rPr>
              <a:t>6/6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11879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7EEF3"/>
                </a:solidFill>
                <a:latin typeface="Segoe UI"/>
              </a:rPr>
              <a:t>Tenant safety &amp; auth hygiene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3657599"/>
            <a:ext cx="2377440" cy="201168"/>
          </a:xfrm>
          <a:prstGeom prst="rect">
            <a:avLst/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92040" y="3657599"/>
            <a:ext cx="2377440" cy="201168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358444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B8A6"/>
                </a:solidFill>
                <a:latin typeface="Segoe UI"/>
              </a:rPr>
              <a:t>12/12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9592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7EEF3"/>
                </a:solidFill>
                <a:latin typeface="Segoe UI"/>
              </a:rPr>
              <a:t>People, roles &amp; access (RBAC)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4041648"/>
            <a:ext cx="2377440" cy="201168"/>
          </a:xfrm>
          <a:prstGeom prst="rect">
            <a:avLst/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92040" y="4041648"/>
            <a:ext cx="2377440" cy="201168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396849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B8A6"/>
                </a:solidFill>
                <a:latin typeface="Segoe UI"/>
              </a:rPr>
              <a:t>20/20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37997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7EEF3"/>
                </a:solidFill>
                <a:latin typeface="Segoe UI"/>
              </a:rPr>
              <a:t>Plans, limits &amp; compliance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4425696"/>
            <a:ext cx="2377440" cy="201168"/>
          </a:xfrm>
          <a:prstGeom prst="rect">
            <a:avLst/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92040" y="4425696"/>
            <a:ext cx="2037805" cy="201168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435254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B8A6"/>
                </a:solidFill>
                <a:latin typeface="Segoe UI"/>
              </a:rPr>
              <a:t>6/7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1888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7EEF3"/>
                </a:solidFill>
                <a:latin typeface="Segoe UI"/>
              </a:rPr>
              <a:t>Go-live security hardening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4864607"/>
            <a:ext cx="2377440" cy="201168"/>
          </a:xfrm>
          <a:prstGeom prst="rect">
            <a:avLst/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0920" y="4791455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2A24B"/>
                </a:solidFill>
                <a:latin typeface="Segoe UI"/>
              </a:rPr>
              <a:t>0/10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20293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7EEF3"/>
                </a:solidFill>
                <a:latin typeface="Segoe UI"/>
              </a:rPr>
              <a:t>Real billing (Razorpay)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92040" y="5248655"/>
            <a:ext cx="2377440" cy="201168"/>
          </a:xfrm>
          <a:prstGeom prst="rect">
            <a:avLst/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5175503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2A24B"/>
                </a:solidFill>
                <a:latin typeface="Segoe UI"/>
              </a:rPr>
              <a:t>0/1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586983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7EEF3"/>
                </a:solidFill>
                <a:latin typeface="Segoe UI"/>
              </a:rPr>
              <a:t>Smarter AI / knowledge base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5632703"/>
            <a:ext cx="2377440" cy="201168"/>
          </a:xfrm>
          <a:prstGeom prst="rect">
            <a:avLst/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5559551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2A24B"/>
                </a:solidFill>
                <a:latin typeface="Segoe UI"/>
              </a:rPr>
              <a:t>0/17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971031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7EEF3"/>
                </a:solidFill>
                <a:latin typeface="Segoe UI"/>
              </a:rPr>
              <a:t>Production ops (monitoring, backups)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92040" y="6016751"/>
            <a:ext cx="2377440" cy="201168"/>
          </a:xfrm>
          <a:prstGeom prst="rect">
            <a:avLst/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5943599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2A24B"/>
                </a:solidFill>
                <a:latin typeface="Segoe UI"/>
              </a:rPr>
              <a:t>0/11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9B4"/>
                </a:solidFill>
                <a:latin typeface="Segoe UI"/>
              </a:rPr>
              <a:t>● Shipped        ● Remaining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E8698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E869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B8A6"/>
                </a:solidFill>
                <a:latin typeface="Segoe UI"/>
              </a:rPr>
              <a:t>WHAT WE FIXED · 1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Foundation &amp; data isolation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B2B38"/>
                </a:solidFill>
                <a:latin typeface="Segoe UI"/>
              </a:rPr>
              <a:t>First we made sure every customer's data lives behind its own locked door — and that the plumbing underneath is production-grade.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292608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3657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SHIPPED  6 / 6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21408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057400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Every record is stamped with its owner company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Data, tasks, contacts and files are now tied to a tenant and checked on every read and write — no cross-company leakage.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036316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972308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Files are access-controlled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Downloads now verify you belong to the company that owns the file. Guessing a link no longer works.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951224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887216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Reliable background jobs &amp; reminders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Scheduled work (follow-ups, reminders) runs once and correctly, even with many customers active at the same time.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866132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802124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Safe database upgrades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A migration ledger records every schema change so upgrades are repeatable and reversible, not risky one-offs.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781040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5717032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Cloud file storage &amp; containerised deploys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Uploads moved off local disk to durable object storage; the app ships as a standard container for predictable deploys.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B8A6"/>
                </a:solidFill>
                <a:latin typeface="Segoe UI"/>
              </a:rPr>
              <a:t>WHAT WE FIXED · 2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Tenant safety &amp; account hygiene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B2B38"/>
                </a:solidFill>
                <a:latin typeface="Segoe UI"/>
              </a:rPr>
              <a:t>Next we closed the everyday gaps that let one customer's activity bleed into another's, and made accounts behave the way businesses expect.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292608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3657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SHIPPED  12 / 12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21408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057400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Phone &amp; OTP routing is company-scoped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One-time codes and WhatsApp messages resolve to the right company, even when two people share a phone number across businesses.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036316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972308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Logout truly logs you out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Sessions can be revoked instantly — a stolen or shared link stops working the moment you sign out.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951224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887216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Verified email &amp; self-serve password reset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Standard email verification and secure reset flows, so support isn't manually resetting passwords.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866132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802124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Speed &amp; stability guards on AI calls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Timeouts and concurrency limits stop one heavy request from slowing the platform for everyone.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781040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5717032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General tenancy hygiene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A batch of smaller isolation fixes so exports, lookups and counters never mix two companies'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B8A6"/>
                </a:solidFill>
                <a:latin typeface="Segoe UI"/>
              </a:rPr>
              <a:t>WHAT WE FIXED · 3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People, roles &amp; access (RBAC)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B2B38"/>
                </a:solidFill>
                <a:latin typeface="Segoe UI"/>
              </a:rPr>
              <a:t>This is what a business buyer inspects first: who can log in, what they're allowed to do, and whether you can prove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292608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3657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SHIPPED  20 / 20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21408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057400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Real accounts per person, with roles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Each employee has their own login and a role (owner, manager, sales, operations…) that decides what they can see and do.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036316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972308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One person, many companies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A user can belong to several customer workspaces and switch between them — needed for accountants, consultants and franchise owners.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951224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887216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Two-factor authentication (2FA)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Authenticator-app codes plus one-time backup codes — the single biggest tick-box in any security review.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866132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802124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Owner-safe ownership transfer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Handing over a workspace is deliberate and 2FA-protected, so an account can't be quietly seized.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781040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5717032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Audit trail + live session control + off-boarding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An unchangeable log of sensitive actions, a screen to see &amp; revoke active devices, and a clean one-click process to remove a leaving employee.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B8A6"/>
                </a:solidFill>
                <a:latin typeface="Segoe UI"/>
              </a:rPr>
              <a:t>WHAT WE FIXED · 4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Plans, usage limits &amp;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B2B38"/>
                </a:solidFill>
                <a:latin typeface="Segoe UI"/>
              </a:rPr>
              <a:t>Finally, the machinery to actually run this as a paid product — and to stay on the right side of Indian data law.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292608"/>
            <a:ext cx="1737360" cy="457200"/>
          </a:xfrm>
          <a:prstGeom prst="roundRect">
            <a:avLst>
              <a:gd name="adj" fmla="val 8000"/>
            </a:avLst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36576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SHIPPED  6 / 7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121408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057400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Plans &amp; seat limits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Trial, Starter, Business and Enterprise tiers, each with its own seat count and feature set; existing customers are grandfathered in.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036316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972308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Usage quotas that protect margin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AI usage, transcription minutes and storage are metered per company and capped by plan, so a runaway account can't blow up costs.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951224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887216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Bring-your-own AI keys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Larger customers can plug in their own AI provider keys; we fall back to the platform's when they don't.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866132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802124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DPDP consent tracking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We record when a company consents to AI processing of their data — the record Indian regulators (and enterprise buyers) expect.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781040"/>
            <a:ext cx="128016" cy="128016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5717032"/>
            <a:ext cx="106801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B2B38"/>
                </a:solidFill>
                <a:latin typeface="Segoe UI"/>
              </a:rPr>
              <a:t>Billing engine choice locked in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B7A"/>
                </a:solidFill>
                <a:latin typeface="Segoe UI"/>
              </a:rPr>
              <a:t>Razorpay selected as the provider (India-first, faster settlement). Wiring it up is the one remaining item in this bucket.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B8A6"/>
                </a:solidFill>
                <a:latin typeface="Segoe UI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What the shipped work unlocks for the business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8366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B8A6"/>
                </a:solidFill>
                <a:latin typeface="Segoe UI"/>
              </a:rPr>
              <a:t>✓  Safe to onboard real customers side-by-side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04288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7D6E0"/>
                </a:solidFill>
                <a:latin typeface="Segoe UI"/>
              </a:rPr>
              <a:t>Data isolation + roles mean two clients can be live on the same system without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8366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B8A6"/>
                </a:solidFill>
                <a:latin typeface="Segoe UI"/>
              </a:rPr>
              <a:t>✓  Ready for a buyer's security questionnaire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04288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7D6E0"/>
                </a:solidFill>
                <a:latin typeface="Segoe UI"/>
              </a:rPr>
              <a:t>2FA, audit logs, session control and off-boarding are the exact items enterprise procurement checks.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25526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B8A6"/>
                </a:solidFill>
                <a:latin typeface="Segoe UI"/>
              </a:rPr>
              <a:t>✓  Costs are contained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675887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7D6E0"/>
                </a:solidFill>
                <a:latin typeface="Segoe UI"/>
              </a:rPr>
              <a:t>Usage quotas cap the paid-AI exposure per customer — no single account can run up an unbounded bill.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25526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B8A6"/>
                </a:solidFill>
                <a:latin typeface="Segoe UI"/>
              </a:rPr>
              <a:t>✓  Compliant by design for India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675887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7D6E0"/>
                </a:solidFill>
                <a:latin typeface="Segoe UI"/>
              </a:rPr>
              <a:t>DPDP consent tracking is built in, not bolted on later under pressure.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62686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B8A6"/>
                </a:solidFill>
                <a:latin typeface="Segoe UI"/>
              </a:rPr>
              <a:t>✓  Faster, cheaper onboarding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047488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7D6E0"/>
                </a:solidFill>
                <a:latin typeface="Segoe UI"/>
              </a:rPr>
              <a:t>A new company is a record, not a new server — onboarding time drops from days to minutes.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48056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2686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B8A6"/>
                </a:solidFill>
                <a:latin typeface="Segoe UI"/>
              </a:rPr>
              <a:t>✓  No quality regressions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047488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7D6E0"/>
                </a:solidFill>
                <a:latin typeface="Segoe UI"/>
              </a:rPr>
              <a:t>553 automated tests guard every change, so hardening didn't break existing features.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E8698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E869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91695" cy="82296"/>
          </a:xfrm>
          <a:prstGeom prst="rect">
            <a:avLst/>
          </a:prstGeom>
          <a:solidFill>
            <a:srgbClr val="F2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A24B"/>
                </a:solidFill>
                <a:latin typeface="Segoe UI"/>
              </a:rPr>
              <a:t>WHAT'S STILL TO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39 items in 4 buckets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C7D6E0"/>
                </a:solidFill>
                <a:latin typeface="Segoe UI"/>
              </a:rPr>
              <a:t>Sequenced so the launch-blockers come first and the nice-to-haves come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E8698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E869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2A24B"/>
                </a:solidFill>
                <a:latin typeface="Segoe UI"/>
              </a:rPr>
              <a:t>WHAT'S LEFT · LAUNCH-BLOCKERS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Go-live security hardening + real billing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B2B38"/>
                </a:solidFill>
                <a:latin typeface="Segoe UI"/>
              </a:rPr>
              <a:t>These block opening public sign-ups. Small, well-understood items — high risk-reduction per hour.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532120" cy="3931920"/>
          </a:xfrm>
          <a:prstGeom prst="roundRect">
            <a:avLst>
              <a:gd name="adj" fmla="val 8000"/>
            </a:avLst>
          </a:prstGeom>
          <a:solidFill>
            <a:srgbClr val="FD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532120" cy="109728"/>
          </a:xfrm>
          <a:prstGeom prst="rect">
            <a:avLst/>
          </a:prstGeom>
          <a:solidFill>
            <a:srgbClr val="F2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5721F"/>
                </a:solidFill>
                <a:latin typeface="Segoe UI"/>
              </a:rPr>
              <a:t>SECURITY HARDENING  ·  10 items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651760"/>
            <a:ext cx="109728" cy="109728"/>
          </a:xfrm>
          <a:prstGeom prst="ellipse">
            <a:avLst/>
          </a:prstGeom>
          <a:solidFill>
            <a:srgbClr val="F2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B38"/>
                </a:solidFill>
                <a:latin typeface="Segoe UI"/>
              </a:rPr>
              <a:t>Remove default admin passwords &amp; test-only login codes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099815"/>
            <a:ext cx="109728" cy="109728"/>
          </a:xfrm>
          <a:prstGeom prst="ellipse">
            <a:avLst/>
          </a:prstGeom>
          <a:solidFill>
            <a:srgbClr val="F2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5409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B38"/>
                </a:solidFill>
                <a:latin typeface="Segoe UI"/>
              </a:rPr>
              <a:t>Lock down which websites can call the API (CORS) + CSRF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547872"/>
            <a:ext cx="109728" cy="109728"/>
          </a:xfrm>
          <a:prstGeom prst="ellipse">
            <a:avLst/>
          </a:prstGeom>
          <a:solidFill>
            <a:srgbClr val="F2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50215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B38"/>
                </a:solidFill>
                <a:latin typeface="Segoe UI"/>
              </a:rPr>
              <a:t>Put the last public AI endpoints behind rate-limits &amp; captcha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995928"/>
            <a:ext cx="109728" cy="109728"/>
          </a:xfrm>
          <a:prstGeom prst="ellipse">
            <a:avLst/>
          </a:prstGeom>
          <a:solidFill>
            <a:srgbClr val="F2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5020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B38"/>
                </a:solidFill>
                <a:latin typeface="Segoe UI"/>
              </a:rPr>
              <a:t>Login lockout after repeated failed attempts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443984"/>
            <a:ext cx="109728" cy="109728"/>
          </a:xfrm>
          <a:prstGeom prst="ellipse">
            <a:avLst/>
          </a:prstGeom>
          <a:solidFill>
            <a:srgbClr val="F2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9826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B38"/>
                </a:solidFill>
                <a:latin typeface="Segoe UI"/>
              </a:rPr>
              <a:t>Keep login tokens out of reach of browser scripts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892040"/>
            <a:ext cx="109728" cy="109728"/>
          </a:xfrm>
          <a:prstGeom prst="ellipse">
            <a:avLst/>
          </a:prstGeom>
          <a:solidFill>
            <a:srgbClr val="F2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4632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B38"/>
                </a:solidFill>
                <a:latin typeface="Segoe UI"/>
              </a:rPr>
              <a:t>Separate keys for staff-admin vs customer logins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5340096"/>
            <a:ext cx="109728" cy="109728"/>
          </a:xfrm>
          <a:prstGeom prst="ellipse">
            <a:avLst/>
          </a:prstGeom>
          <a:solidFill>
            <a:srgbClr val="F2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29437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B38"/>
                </a:solidFill>
                <a:latin typeface="Segoe UI"/>
              </a:rPr>
              <a:t>Expire invite links after first use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920240"/>
            <a:ext cx="5330952" cy="39319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920240"/>
            <a:ext cx="5330952" cy="109728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1488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7D5B"/>
                </a:solidFill>
                <a:latin typeface="Segoe UI"/>
              </a:rPr>
              <a:t>REAL BILLING  ·  1 item  ·  S3-01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651760"/>
            <a:ext cx="48463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0F2A43"/>
                </a:solidFill>
                <a:latin typeface="Segoe UI"/>
              </a:rPr>
              <a:t>Wire up Razorpay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1B2B38"/>
                </a:solidFill>
                <a:latin typeface="Segoe UI"/>
              </a:rPr>
              <a:t>Provider is chosen (India-first, faster settlement than Stripe for our market). No subscription billing exists yet — this connects plans to real money.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F2A43"/>
                </a:solidFill>
                <a:latin typeface="Segoe UI"/>
              </a:rPr>
              <a:t>Turns on: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B2B38"/>
                </a:solidFill>
                <a:latin typeface="Segoe UI"/>
              </a:rPr>
              <a:t>•  Paid subscriptions &amp; renewals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B2B38"/>
                </a:solidFill>
                <a:latin typeface="Segoe UI"/>
              </a:rPr>
              <a:t>•  Enforced upgrades when limits are hit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B2B38"/>
                </a:solidFill>
                <a:latin typeface="Segoe UI"/>
              </a:rPr>
              <a:t>•  Automatic seat &amp; plan changes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1">
                <a:solidFill>
                  <a:srgbClr val="5A6B7A"/>
                </a:solidFill>
                <a:latin typeface="Segoe UI"/>
              </a:rPr>
              <a:t>Note: ownership transfer will re-point billing to the new owner once this lands.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2A24B"/>
                </a:solidFill>
                <a:latin typeface="Segoe UI"/>
              </a:rPr>
              <a:t>WHAT'S LEFT · AFTER LAUNCH-BLOCKERS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Smarter AI + production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532120" cy="452628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532120" cy="109728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E7D5B"/>
                </a:solidFill>
                <a:latin typeface="Segoe UI"/>
              </a:rPr>
              <a:t>SMARTER AI &amp; KNOWLEDGE BASE · 17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A"/>
                </a:solidFill>
                <a:latin typeface="Segoe UI"/>
              </a:rPr>
              <a:t>Value-add, not launch-blocking. Makes the AI genuinely useful on each company's own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834639"/>
            <a:ext cx="100584" cy="100584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7889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Read &amp; understand uploaded documents (not just store them)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337559"/>
            <a:ext cx="100584" cy="100584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29183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Modern semantic search, so “refund” also finds “refunds”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840479"/>
            <a:ext cx="100584" cy="100584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79475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Connect decisions → tasks → outcomes for real provenance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343399"/>
            <a:ext cx="100584" cy="100584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29767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AI that remembers context across a conversation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846319"/>
            <a:ext cx="100584" cy="100584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80059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Tailor AI tags to each industry (clinic, restaurant, agency…)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5349239"/>
            <a:ext cx="100584" cy="100584"/>
          </a:xfrm>
          <a:prstGeom prst="ellipse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530351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Capture finance, workflow &amp; meeting events into the Brain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371600"/>
            <a:ext cx="5330952" cy="4526280"/>
          </a:xfrm>
          <a:prstGeom prst="roundRect">
            <a:avLst>
              <a:gd name="adj" fmla="val 8000"/>
            </a:avLst>
          </a:prstGeom>
          <a:solidFill>
            <a:srgbClr val="FD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371600"/>
            <a:ext cx="5330952" cy="109728"/>
          </a:xfrm>
          <a:prstGeom prst="rect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600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53A38"/>
                </a:solidFill>
                <a:latin typeface="Segoe UI"/>
              </a:rPr>
              <a:t>PRODUCTION OPERATIONS · 11 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A"/>
                </a:solidFill>
                <a:latin typeface="Segoe UI"/>
              </a:rPr>
              <a:t>The safety net before real customers depend on us. Blocks go-live.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2834639"/>
            <a:ext cx="100584" cy="100584"/>
          </a:xfrm>
          <a:prstGeom prst="ellipse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27889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Staging environment to test every change first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3264407"/>
            <a:ext cx="100584" cy="100584"/>
          </a:xfrm>
          <a:prstGeom prst="ellipse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9712" y="3218687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Load test at ~100 customers before launch</a:t>
            </a:r>
          </a:p>
        </p:txBody>
      </p:sp>
      <p:sp>
        <p:nvSpPr>
          <p:cNvPr id="31" name="Oval 30"/>
          <p:cNvSpPr/>
          <p:nvPr/>
        </p:nvSpPr>
        <p:spPr>
          <a:xfrm>
            <a:off x="6629400" y="3694175"/>
            <a:ext cx="100584" cy="100584"/>
          </a:xfrm>
          <a:prstGeom prst="ellipse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9712" y="3648455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Monitoring &amp; error alerts (know before customers tell us)</a:t>
            </a:r>
          </a:p>
        </p:txBody>
      </p:sp>
      <p:sp>
        <p:nvSpPr>
          <p:cNvPr id="33" name="Oval 32"/>
          <p:cNvSpPr/>
          <p:nvPr/>
        </p:nvSpPr>
        <p:spPr>
          <a:xfrm>
            <a:off x="6629400" y="4123943"/>
            <a:ext cx="100584" cy="100584"/>
          </a:xfrm>
          <a:prstGeom prst="ellipse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9712" y="4078223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Backup &amp; tested restore — an actual drill, not a doc</a:t>
            </a:r>
          </a:p>
        </p:txBody>
      </p:sp>
      <p:sp>
        <p:nvSpPr>
          <p:cNvPr id="35" name="Oval 34"/>
          <p:cNvSpPr/>
          <p:nvPr/>
        </p:nvSpPr>
        <p:spPr>
          <a:xfrm>
            <a:off x="6629400" y="4553711"/>
            <a:ext cx="100584" cy="100584"/>
          </a:xfrm>
          <a:prstGeom prst="ellipse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9712" y="4507991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Move secrets into a proper vault</a:t>
            </a:r>
          </a:p>
        </p:txBody>
      </p:sp>
      <p:sp>
        <p:nvSpPr>
          <p:cNvPr id="37" name="Oval 36"/>
          <p:cNvSpPr/>
          <p:nvPr/>
        </p:nvSpPr>
        <p:spPr>
          <a:xfrm>
            <a:off x="6629400" y="4983479"/>
            <a:ext cx="100584" cy="100584"/>
          </a:xfrm>
          <a:prstGeom prst="ellipse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9712" y="4937759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Automated build/test/deploy + rollback plan</a:t>
            </a:r>
          </a:p>
        </p:txBody>
      </p:sp>
      <p:sp>
        <p:nvSpPr>
          <p:cNvPr id="39" name="Oval 38"/>
          <p:cNvSpPr/>
          <p:nvPr/>
        </p:nvSpPr>
        <p:spPr>
          <a:xfrm>
            <a:off x="6629400" y="5413247"/>
            <a:ext cx="100584" cy="100584"/>
          </a:xfrm>
          <a:prstGeom prst="ellipse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9712" y="5367527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B2B38"/>
                </a:solidFill>
                <a:latin typeface="Segoe UI"/>
              </a:rPr>
              <a:t>Staged rollout: 5 → 20 → 50 → 100 customers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B8A6"/>
                </a:solidFill>
                <a:latin typeface="Segoe UI"/>
              </a:rPr>
              <a:t>THE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Sequence to launch — and why this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212848" cy="39319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212848" cy="502920"/>
          </a:xfrm>
          <a:prstGeom prst="rect">
            <a:avLst/>
          </a:prstGeom>
          <a:solidFill>
            <a:srgbClr val="F2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31720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2A43"/>
                </a:solidFill>
                <a:latin typeface="Segoe UI"/>
              </a:rPr>
              <a:t>Go-live security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83280"/>
            <a:ext cx="1883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B38"/>
                </a:solidFill>
                <a:latin typeface="Segoe UI"/>
              </a:rPr>
              <a:t>10 quick, high-impact fixes. Closes the doors a public sign-up would expose.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5029200"/>
            <a:ext cx="188366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093208"/>
            <a:ext cx="1883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2A24B"/>
                </a:solidFill>
                <a:latin typeface="Segoe UI"/>
              </a:rPr>
              <a:t>Blocks 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A6B7A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7208" y="1600200"/>
            <a:ext cx="2212848" cy="39319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07208" y="1600200"/>
            <a:ext cx="2212848" cy="502920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7208" y="166420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331720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2A43"/>
                </a:solidFill>
                <a:latin typeface="Segoe UI"/>
              </a:rPr>
              <a:t>Real billing (Razorpay)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383280"/>
            <a:ext cx="1883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B38"/>
                </a:solidFill>
                <a:latin typeface="Segoe UI"/>
              </a:rPr>
              <a:t>Connect plans to money so the product can actually earn.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5029200"/>
            <a:ext cx="188366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5093208"/>
            <a:ext cx="1883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FB8A6"/>
                </a:solidFill>
                <a:latin typeface="Segoe UI"/>
              </a:rPr>
              <a:t>Blocks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8616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A6B7A"/>
                </a:solidFill>
                <a:latin typeface="Segoe U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65775" y="1600200"/>
            <a:ext cx="2212848" cy="39319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65775" y="1600200"/>
            <a:ext cx="2212848" cy="502920"/>
          </a:xfrm>
          <a:prstGeom prst="rect">
            <a:avLst/>
          </a:prstGeom>
          <a:solidFill>
            <a:srgbClr val="E15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65775" y="166420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THEN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7" y="2331720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2A43"/>
                </a:solidFill>
                <a:latin typeface="Segoe UI"/>
              </a:rPr>
              <a:t>Production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7" y="3383280"/>
            <a:ext cx="1883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B38"/>
                </a:solidFill>
                <a:latin typeface="Segoe UI"/>
              </a:rPr>
              <a:t>Staging, load test, monitoring, backups, staged rollout — the safety net.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30367" y="5029200"/>
            <a:ext cx="188366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5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0367" y="5093208"/>
            <a:ext cx="1883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E15554"/>
                </a:solidFill>
                <a:latin typeface="Segoe UI"/>
              </a:rPr>
              <a:t>Blocks launch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87183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A6B7A"/>
                </a:solidFill>
                <a:latin typeface="Segoe U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24344" y="1600200"/>
            <a:ext cx="2212848" cy="39319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24344" y="1600200"/>
            <a:ext cx="2212848" cy="5029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24344" y="166420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LAUNCH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2331720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2A43"/>
                </a:solidFill>
                <a:latin typeface="Segoe UI"/>
              </a:rPr>
              <a:t>Staged rollout 5 → 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3383280"/>
            <a:ext cx="1883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B38"/>
                </a:solidFill>
                <a:latin typeface="Segoe UI"/>
              </a:rPr>
              <a:t>Go live to a handful, watch, then widen with a go/no-go at each step.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88936" y="5029200"/>
            <a:ext cx="188366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88936" y="5093208"/>
            <a:ext cx="1883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2A43"/>
                </a:solidFill>
                <a:latin typeface="Segoe UI"/>
              </a:rPr>
              <a:t>Go / no-go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5752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A6B7A"/>
                </a:solidFill>
                <a:latin typeface="Segoe U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82911" y="1600200"/>
            <a:ext cx="2212848" cy="39319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82911" y="1600200"/>
            <a:ext cx="2212848" cy="502920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82911" y="166420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AFTER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47503" y="2331720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2A43"/>
                </a:solidFill>
                <a:latin typeface="Segoe UI"/>
              </a:rPr>
              <a:t>Smarter AI &amp; knowledge 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47503" y="3383280"/>
            <a:ext cx="1883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B38"/>
                </a:solidFill>
                <a:latin typeface="Segoe UI"/>
              </a:rPr>
              <a:t>Deepen the AI value on each customer's own data — a continuous edge, not a blocker.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47503" y="5029200"/>
            <a:ext cx="1883664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47503" y="5093208"/>
            <a:ext cx="1883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FB8A6"/>
                </a:solidFill>
                <a:latin typeface="Segoe UI"/>
              </a:rPr>
              <a:t>Value-add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A6B7A"/>
                </a:solidFill>
                <a:latin typeface="Segoe UI"/>
              </a:rPr>
              <a:t>Why this order: nothing goes public until the doors are locked and we can see &amp; recover from problems. Billing sits between so launch and revenue arrive together.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AA9B4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91695" cy="82296"/>
          </a:xfrm>
          <a:prstGeom prst="rect">
            <a:avLst/>
          </a:prstGeom>
          <a:solidFill>
            <a:srgbClr val="1F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B8A6"/>
                </a:solidFill>
                <a:latin typeface="Segoe UI"/>
              </a:rPr>
              <a:t>WHERE WE 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The hard part is done. The platform is multi-tenant, secure at the core, and metered.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5212080" cy="251460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B8A6"/>
                </a:solidFill>
                <a:latin typeface="Segoe UI"/>
              </a:rPr>
              <a:t>READY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DDE8EE"/>
                </a:solidFill>
                <a:latin typeface="Segoe UI"/>
              </a:rPr>
              <a:t>✓  Customers isolated &amp; data-safe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DDE8EE"/>
                </a:solidFill>
                <a:latin typeface="Segoe UI"/>
              </a:rPr>
              <a:t>✓  Roles, 2FA, audit, off-boarding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DDE8EE"/>
                </a:solidFill>
                <a:latin typeface="Segoe UI"/>
              </a:rPr>
              <a:t>✓  Plans, quotas &amp; DPDP consent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DDE8EE"/>
                </a:solidFill>
                <a:latin typeface="Segoe UI"/>
              </a:rPr>
              <a:t>✓  44 items shipped, 553 tests green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651760"/>
            <a:ext cx="5074920" cy="251460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2A24B"/>
                </a:solidFill>
                <a:latin typeface="Segoe UI"/>
              </a:rPr>
              <a:t>TO OPEN PUBLIC SIGN-UPS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461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DDE8EE"/>
                </a:solidFill>
                <a:latin typeface="Segoe UI"/>
              </a:rPr>
              <a:t>→  Finish 10 security-hardening fixes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DDE8EE"/>
                </a:solidFill>
                <a:latin typeface="Segoe UI"/>
              </a:rPr>
              <a:t>→  Wire up Razorpay billing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605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DDE8EE"/>
                </a:solidFill>
                <a:latin typeface="Segoe UI"/>
              </a:rPr>
              <a:t>→  Monitoring, backups, staging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6177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DDE8EE"/>
                </a:solidFill>
                <a:latin typeface="Segoe UI"/>
              </a:rPr>
              <a:t>→  Then staged rollout 5 →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Decision needed: approve the launch-blocker sprint (security + billing + ops) as the next priority.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E8698"/>
                </a:solidFill>
                <a:latin typeface="Segoe UI"/>
              </a:rPr>
              <a:t>DecisionOS  ·  Backend Hardening for Multi-Tenant SaaS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E869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