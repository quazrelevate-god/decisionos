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39B7FF"/>
              </a:gs>
              <a:gs pos="28000">
                <a:srgbClr val="2E6BFF"/>
              </a:gs>
              <a:gs pos="70000">
                <a:srgbClr val="0B1E63"/>
              </a:gs>
              <a:gs pos="100000">
                <a:srgbClr val="081235"/>
              </a:gs>
            </a:gsLst>
            <a:path path="circle">
              <a:fillToRect l="32000" t="38000" r="68000" b="62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658368" y="585216"/>
            <a:ext cx="237744" cy="237744"/>
          </a:xfrm>
          <a:prstGeom prst="diamond">
            <a:avLst/>
          </a:prstGeom>
          <a:gradFill>
            <a:gsLst>
              <a:gs pos="0">
                <a:srgbClr val="39B7FF"/>
              </a:gs>
              <a:gs pos="100000">
                <a:srgbClr val="2E6B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39496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spc="30">
                <a:solidFill>
                  <a:srgbClr val="FFFFFF"/>
                </a:solidFill>
                <a:latin typeface="Segoe UI Semibold"/>
                <a:cs typeface="Segoe UI Semibold"/>
              </a:rPr>
              <a:t>DecisionOS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603504"/>
            <a:ext cx="224028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F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594360"/>
            <a:ext cx="2240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60">
                <a:solidFill>
                  <a:srgbClr val="D6E4FF"/>
                </a:solidFill>
                <a:latin typeface="Segoe UI Semibold"/>
                <a:cs typeface="Segoe UI Semibold"/>
              </a:rPr>
              <a:t>TEST PLAN ·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0" i="0">
                <a:solidFill>
                  <a:srgbClr val="FFFFFF"/>
                </a:solidFill>
                <a:latin typeface="Segoe UI Light"/>
                <a:cs typeface="Segoe UI Light"/>
              </a:rPr>
              <a:t>Proving </a:t>
            </a:r>
            <a:r>
              <a:rPr sz="5000" b="0" i="0">
                <a:solidFill>
                  <a:srgbClr val="FFFFFF"/>
                </a:solidFill>
                <a:latin typeface="Segoe UI Semibold"/>
                <a:cs typeface="Segoe UI Semibold"/>
              </a:rPr>
              <a:t>the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7947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D8E2FF"/>
                </a:solidFill>
                <a:latin typeface="Segoe UI"/>
                <a:cs typeface="Segoe UI"/>
              </a:rPr>
              <a:t>How we verify each phase ships green, existing tenants are untouched, and the card only ever moves through one audited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806440"/>
            <a:ext cx="1580083" cy="566928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6E9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907024"/>
            <a:ext cx="130576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spc="140">
                <a:solidFill>
                  <a:srgbClr val="9FBBF5"/>
                </a:solidFill>
                <a:latin typeface="Segoe UI Semibold"/>
                <a:cs typeface="Segoe UI Semibold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89904"/>
            <a:ext cx="13057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  <a:latin typeface="Segoe UI Semibold"/>
                <a:cs typeface="Segoe UI Semibold"/>
              </a:rPr>
              <a:t>Engineering / 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4483" y="5806440"/>
            <a:ext cx="2787091" cy="566928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6E9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5651" y="5907024"/>
            <a:ext cx="25127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spc="140">
                <a:solidFill>
                  <a:srgbClr val="9FBBF5"/>
                </a:solidFill>
                <a:latin typeface="Segoe UI Semibold"/>
                <a:cs typeface="Segoe UI Semibold"/>
              </a:rPr>
              <a:t>COVERS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5651" y="6089904"/>
            <a:ext cx="251277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  <a:latin typeface="Segoe UI Semibold"/>
                <a:cs typeface="Segoe UI Semibold"/>
              </a:rPr>
              <a:t>Model · Engine · Migration ·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2742" y="5806440"/>
            <a:ext cx="1901951" cy="566928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6E9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3910" y="5907024"/>
            <a:ext cx="16276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spc="140">
                <a:solidFill>
                  <a:srgbClr val="9FBBF5"/>
                </a:solidFill>
                <a:latin typeface="Segoe UI Semibold"/>
                <a:cs typeface="Segoe UI Semibold"/>
              </a:rP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3910" y="6089904"/>
            <a:ext cx="16276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  <a:latin typeface="Segoe UI Semibold"/>
                <a:cs typeface="Segoe UI Semibold"/>
              </a:rPr>
              <a:t>553 tests stay green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5862" y="5806440"/>
            <a:ext cx="2223820" cy="566928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6E9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7030" y="5907024"/>
            <a:ext cx="1949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 spc="140">
                <a:solidFill>
                  <a:srgbClr val="9FBBF5"/>
                </a:solidFill>
                <a:latin typeface="Segoe UI Semibold"/>
                <a:cs typeface="Segoe UI Semibold"/>
              </a:rPr>
              <a:t>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7030" y="6089904"/>
            <a:ext cx="19495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  <a:latin typeface="Segoe UI Semibold"/>
                <a:cs typeface="Segoe UI Semibold"/>
              </a:rPr>
              <a:t>Per-phase exit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Segoe UI Semibold"/>
                <a:cs typeface="Segoe UI Semibold"/>
              </a:rPr>
              <a:t>Four things must be true when this ships</a:t>
            </a:r>
          </a:p>
        </p:txBody>
      </p:sp>
      <p:sp>
        <p:nvSpPr>
          <p:cNvPr id="6" name="Oval 5"/>
          <p:cNvSpPr/>
          <p:nvPr/>
        </p:nvSpPr>
        <p:spPr>
          <a:xfrm>
            <a:off x="1370868" y="1938527"/>
            <a:ext cx="9447215" cy="1554480"/>
          </a:xfrm>
          <a:prstGeom prst="ellipse">
            <a:avLst/>
          </a:prstGeom>
          <a:gradFill>
            <a:gsLst>
              <a:gs pos="0">
                <a:srgbClr val="2E6BFF">
                  <a:alpha val="52000"/>
                </a:srgbClr>
              </a:gs>
              <a:gs pos="45000">
                <a:srgbClr val="2E6BFF">
                  <a:alpha val="26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527298" y="2212848"/>
            <a:ext cx="5134356" cy="1005840"/>
          </a:xfrm>
          <a:prstGeom prst="ellipse">
            <a:avLst/>
          </a:prstGeom>
          <a:gradFill>
            <a:gsLst>
              <a:gs pos="0">
                <a:srgbClr val="39B7FF">
                  <a:alpha val="40000"/>
                </a:srgbClr>
              </a:gs>
              <a:gs pos="45000">
                <a:srgbClr val="2E6BFF">
                  <a:alpha val="18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3842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3264408"/>
            <a:ext cx="2109978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2247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One path moves the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03320"/>
            <a:ext cx="22471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workflows.stage is only ever written by the engine — never a raw UI drag or a stray endpoint.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298" y="2194560"/>
            <a:ext cx="23842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54729" y="3264408"/>
            <a:ext cx="2109978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4729" y="3374135"/>
            <a:ext cx="2247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Backward compatible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4729" y="3703320"/>
            <a:ext cx="22471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Empty stage templates reproduce today's behaviour exactly; no tenant sees a change until they opt 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2194560"/>
            <a:ext cx="23842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1908" y="3264408"/>
            <a:ext cx="2109978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1908" y="3374135"/>
            <a:ext cx="2247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Migrations are 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1908" y="3703320"/>
            <a:ext cx="22471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Exactly-once, idempotent, replica-restart-safe. Correct join keys, no data lost.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1654" y="2194560"/>
            <a:ext cx="238429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>
                <a:solidFill>
                  <a:srgbClr val="FFFFFF"/>
                </a:solidFill>
                <a:latin typeface="Segoe UI Light"/>
                <a:cs typeface="Segoe UI Light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9086" y="3264408"/>
            <a:ext cx="2109978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9086" y="3374135"/>
            <a:ext cx="2247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One shared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9086" y="3703320"/>
            <a:ext cx="224713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9AA4BE"/>
                </a:solidFill>
                <a:latin typeface="Segoe UI"/>
                <a:cs typeface="Segoe UI"/>
              </a:rPr>
              <a:t>Closing the last stage task advances the card; the card advancing spawns the next stage's tasks.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Segoe UI Semibold"/>
                <a:cs typeface="Segoe UI Semibold"/>
              </a:rPr>
              <a:t>Where each behaviour is 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1618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59085" y="1874519"/>
            <a:ext cx="783258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WHAT IT COVERS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76856"/>
            <a:ext cx="10268712" cy="1524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86584"/>
            <a:ext cx="213437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9085" y="2386584"/>
            <a:ext cx="780515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on_stage_enter · check_stage_ready · advance; stage-contract evaluation; task-spawn from templates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880360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35224"/>
            <a:ext cx="213437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9085" y="2935224"/>
            <a:ext cx="780515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Task-closer → engine → transition → next-task spawn; approval recording → gate release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429000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83864"/>
            <a:ext cx="213437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9085" y="3483864"/>
            <a:ext cx="780515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Backfill correctness, idempotency, replica-restart replay, rollback safety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977640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32504"/>
            <a:ext cx="213437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Contract /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9085" y="4032504"/>
            <a:ext cx="780515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Only the engine writes stage; manual advance requires override + reason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526280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81144"/>
            <a:ext cx="213437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UI / E2E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9085" y="4581144"/>
            <a:ext cx="780515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Settings Operations tab, stage chips, inline task lists, manual-advance reason prompt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5074920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9783"/>
            <a:ext cx="213437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9085" y="5129783"/>
            <a:ext cx="780515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Full existing suite (553) + ad-hoc tasks (null workflow_id) still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PHASE 1 · ~1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Segoe UI Semibold"/>
                <a:cs typeface="Segoe UI Semibold"/>
              </a:rPr>
              <a:t>Unify the model — behaviour unchanged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828800"/>
            <a:ext cx="4997196" cy="2487168"/>
          </a:xfrm>
          <a:prstGeom prst="roundRect">
            <a:avLst>
              <a:gd name="adj" fmla="val 6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2048256"/>
            <a:ext cx="45399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60">
                <a:solidFill>
                  <a:srgbClr val="39B7FF"/>
                </a:solidFill>
                <a:latin typeface="Segoe UI Semibold"/>
                <a:cs typeface="Segoe UI Semibold"/>
              </a:rPr>
              <a:t>MIGRATION /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6152" y="2414016"/>
            <a:ext cx="4485131" cy="12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2660903"/>
            <a:ext cx="82296" cy="82296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" y="2578608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Backfill sets workflow_id + stage_key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correctly, via the decision_id join</a:t>
            </a:r>
          </a:p>
        </p:txBody>
      </p:sp>
      <p:sp>
        <p:nvSpPr>
          <p:cNvPr id="11" name="Oval 10"/>
          <p:cNvSpPr/>
          <p:nvPr/>
        </p:nvSpPr>
        <p:spPr>
          <a:xfrm>
            <a:off x="1234440" y="3337559"/>
            <a:ext cx="82296" cy="82296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8" y="3255263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No-match tasks keep null fields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and still load, edit, and close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4014215"/>
            <a:ext cx="82296" cy="82296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8" y="3931920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Re-running the backfill changes nothing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idempotent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828800"/>
            <a:ext cx="4997196" cy="2487168"/>
          </a:xfrm>
          <a:prstGeom prst="roundRect">
            <a:avLst>
              <a:gd name="adj" fmla="val 6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2048256"/>
            <a:ext cx="45399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60">
                <a:solidFill>
                  <a:srgbClr val="2E6BFF"/>
                </a:solidFill>
                <a:latin typeface="Segoe UI Semibold"/>
                <a:cs typeface="Segoe UI Semibold"/>
              </a:rPr>
              <a:t>BEHAVIOUR &amp;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7668" y="2414016"/>
            <a:ext cx="4485131" cy="12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05955" y="2660903"/>
            <a:ext cx="82296" cy="82296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7123" y="2578608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Voice capture creates the same card + tasks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My Work, Workflows, counters unchanged</a:t>
            </a:r>
          </a:p>
        </p:txBody>
      </p:sp>
      <p:sp>
        <p:nvSpPr>
          <p:cNvPr id="20" name="Oval 19"/>
          <p:cNvSpPr/>
          <p:nvPr/>
        </p:nvSpPr>
        <p:spPr>
          <a:xfrm>
            <a:off x="6505955" y="3337559"/>
            <a:ext cx="82296" cy="82296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7123" y="3255263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Ghost collections gone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no reader errors on their absence</a:t>
            </a:r>
          </a:p>
        </p:txBody>
      </p:sp>
      <p:sp>
        <p:nvSpPr>
          <p:cNvPr id="22" name="Oval 21"/>
          <p:cNvSpPr/>
          <p:nvPr/>
        </p:nvSpPr>
        <p:spPr>
          <a:xfrm>
            <a:off x="6505955" y="4014215"/>
            <a:ext cx="82296" cy="82296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7123" y="3931920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Settings renders as four tabs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every old field reachable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480560"/>
            <a:ext cx="10268712" cy="1170432"/>
          </a:xfrm>
          <a:prstGeom prst="roundRect">
            <a:avLst>
              <a:gd name="adj" fmla="val 6000"/>
            </a:avLst>
          </a:prstGeom>
          <a:solidFill>
            <a:srgbClr val="17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617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37D39B"/>
                </a:solidFill>
                <a:latin typeface="Segoe UI Semibold"/>
                <a:cs typeface="Segoe UI Semibold"/>
              </a:rPr>
              <a:t>EXIT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956048"/>
            <a:ext cx="9628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 Semibold"/>
                <a:cs typeface="Segoe UI Semibold"/>
              </a:rPr>
              <a:t>Full suite green   ·   zero behaviour diff   ·   both ghost collections removed.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PHASE 2 · ~2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Segoe UI Semibold"/>
                <a:cs typeface="Segoe UI Semibold"/>
              </a:rPr>
              <a:t>The engine — three operations under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61080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085" y="1874519"/>
            <a:ext cx="738358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WHAT THE TESTS ASSERT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276856"/>
            <a:ext cx="10268712" cy="1524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86584"/>
            <a:ext cx="258337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on_stage_enter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8085" y="2386584"/>
            <a:ext cx="735615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Spawns exactly the template tasks for the named roles · records timeline · notifies · empty template spawns nothing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154679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09544"/>
            <a:ext cx="258337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check_stage_ready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8085" y="3209544"/>
            <a:ext cx="735615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False while any task open · false while any required approval missing · true only when all done AND all present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977640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32504"/>
            <a:ext cx="2583373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advance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8085" y="4032504"/>
            <a:ext cx="7356154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Pass → transition → chained on_stage_enter · terminal → side-effects + done · fail → no change, clear 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Segoe UI Semibold"/>
                <a:cs typeface="Segoe UI Semibold"/>
              </a:rPr>
              <a:t>One path, always audited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965960"/>
            <a:ext cx="10268712" cy="457200"/>
          </a:xfrm>
          <a:prstGeom prst="roundRect">
            <a:avLst>
              <a:gd name="adj" fmla="val 28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06424" y="2084831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05740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3896" y="1965960"/>
            <a:ext cx="9628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CCDE"/>
                </a:solidFill>
                <a:latin typeface="Segoe UI"/>
                <a:cs typeface="Segoe UI"/>
              </a:rPr>
              <a:t>Single writer — no path other than the engine mutates workflows.stage (contract test scans writers)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14600"/>
            <a:ext cx="10268712" cy="457200"/>
          </a:xfrm>
          <a:prstGeom prst="roundRect">
            <a:avLst>
              <a:gd name="adj" fmla="val 28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06424" y="2633472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260604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6" y="2514600"/>
            <a:ext cx="9628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CCDE"/>
                </a:solidFill>
                <a:latin typeface="Segoe UI"/>
                <a:cs typeface="Segoe UI"/>
              </a:rPr>
              <a:t>Manual advance routes through the engine with override=true + a required reason, written to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063240"/>
            <a:ext cx="10268712" cy="457200"/>
          </a:xfrm>
          <a:prstGeom prst="roundRect">
            <a:avLst>
              <a:gd name="adj" fmla="val 28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06424" y="3182112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315468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3896" y="3063240"/>
            <a:ext cx="9628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CCDE"/>
                </a:solidFill>
                <a:latin typeface="Segoe UI"/>
                <a:cs typeface="Segoe UI"/>
              </a:rPr>
              <a:t>Idempotent transitions — calling advance twice never double-spawns or skips a stage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611880"/>
            <a:ext cx="10268712" cy="457200"/>
          </a:xfrm>
          <a:prstGeom prst="roundRect">
            <a:avLst>
              <a:gd name="adj" fmla="val 28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06424" y="3730752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370332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611880"/>
            <a:ext cx="9628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CCDE"/>
                </a:solidFill>
                <a:latin typeface="Segoe UI"/>
                <a:cs typeface="Segoe UI"/>
              </a:rPr>
              <a:t>Concurrency — two tasks closing at once trigger exactly one transition (no double-advance)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160520"/>
            <a:ext cx="10268712" cy="457200"/>
          </a:xfrm>
          <a:prstGeom prst="roundRect">
            <a:avLst>
              <a:gd name="adj" fmla="val 28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06424" y="4279392"/>
            <a:ext cx="219456" cy="219456"/>
          </a:xfrm>
          <a:prstGeom prst="roundRect">
            <a:avLst>
              <a:gd name="adj" fmla="val 28000"/>
            </a:avLst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4251959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cs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6" y="4160520"/>
            <a:ext cx="9628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4CCDE"/>
                </a:solidFill>
                <a:latin typeface="Segoe UI"/>
                <a:cs typeface="Segoe UI"/>
              </a:rPr>
              <a:t>Side-effects fire once — procurement-terminal → awaiting-bill creates exactly one expense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PHASE 2 ·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FFFFFF"/>
                </a:solidFill>
                <a:latin typeface="Segoe UI Semibold"/>
                <a:cs typeface="Segoe UI Semibold"/>
              </a:rPr>
              <a:t>Flat strings → stage objects, non-destructively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084832"/>
            <a:ext cx="118872" cy="118872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1016" y="2011680"/>
            <a:ext cx="9902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 i="0">
                <a:solidFill>
                  <a:srgbClr val="FFFFFF"/>
                </a:solidFill>
                <a:latin typeface="Segoe UI Semibold"/>
                <a:cs typeface="Segoe UI Semibold"/>
              </a:rPr>
              <a:t>Each old string → {key, label, tasks:[], approval:null}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9AA4BE"/>
                </a:solidFill>
                <a:latin typeface="Segoe UI"/>
                <a:cs typeface="Segoe UI"/>
              </a:rPr>
              <a:t>with a stable, unique key; label preserves the display string; order preserved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953512"/>
            <a:ext cx="118872" cy="118872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1016" y="2880360"/>
            <a:ext cx="9902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 i="0">
                <a:solidFill>
                  <a:srgbClr val="FFFFFF"/>
                </a:solidFill>
                <a:latin typeface="Segoe UI Semibold"/>
                <a:cs typeface="Segoe UI Semibold"/>
              </a:rPr>
              <a:t>Empty tasks / approval → engine spawns nothing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9AA4BE"/>
                </a:solidFill>
                <a:latin typeface="Segoe UI"/>
                <a:cs typeface="Segoe UI"/>
              </a:rPr>
              <a:t>gate passes trivially — today's behaviour preserved until owners edit templates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22192"/>
            <a:ext cx="118872" cy="118872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1016" y="3749040"/>
            <a:ext cx="9902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 i="0">
                <a:solidFill>
                  <a:srgbClr val="FFFFFF"/>
                </a:solidFill>
                <a:latin typeface="Segoe UI Semibold"/>
                <a:cs typeface="Segoe UI Semibold"/>
              </a:rPr>
              <a:t>In-flight cards keep their current stage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9AA4BE"/>
                </a:solidFill>
                <a:latin typeface="Segoe UI"/>
                <a:cs typeface="Segoe UI"/>
              </a:rPr>
              <a:t>and advance correctly afterward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690872"/>
            <a:ext cx="118872" cy="118872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1016" y="4617720"/>
            <a:ext cx="9902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0" i="0">
                <a:solidFill>
                  <a:srgbClr val="FFFFFF"/>
                </a:solidFill>
                <a:latin typeface="Segoe UI Semibold"/>
                <a:cs typeface="Segoe UI Semibold"/>
              </a:rPr>
              <a:t>Idempotent + replica-restart-safe via the ledger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9AA4BE"/>
                </a:solidFill>
                <a:latin typeface="Segoe UI"/>
                <a:cs typeface="Segoe UI"/>
              </a:rPr>
              <a:t>dry-run diff reviewed before 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PHASE 3 · ~1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FFFFFF"/>
                </a:solidFill>
                <a:latin typeface="Segoe UI Semibold"/>
                <a:cs typeface="Segoe UI Semibold"/>
              </a:rPr>
              <a:t>The joined view — two lenses, one truth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828800"/>
            <a:ext cx="4997196" cy="2487168"/>
          </a:xfrm>
          <a:prstGeom prst="roundRect">
            <a:avLst>
              <a:gd name="adj" fmla="val 6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2048256"/>
            <a:ext cx="45399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60">
                <a:solidFill>
                  <a:srgbClr val="39B7FF"/>
                </a:solidFill>
                <a:latin typeface="Segoe UI Semibold"/>
                <a:cs typeface="Segoe UI Semibold"/>
              </a:rPr>
              <a:t>MY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6152" y="2414016"/>
            <a:ext cx="4485131" cy="12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2660903"/>
            <a:ext cx="82296" cy="82296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8" y="2578608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Every task shows a stage chip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“Order #4821 · Confirmed” — click opens the parent card</a:t>
            </a:r>
          </a:p>
        </p:txBody>
      </p:sp>
      <p:sp>
        <p:nvSpPr>
          <p:cNvPr id="11" name="Oval 10"/>
          <p:cNvSpPr/>
          <p:nvPr/>
        </p:nvSpPr>
        <p:spPr>
          <a:xfrm>
            <a:off x="1234440" y="3337559"/>
            <a:ext cx="82296" cy="82296"/>
          </a:xfrm>
          <a:prstGeom prst="ellipse">
            <a:avLst/>
          </a:prstGeom>
          <a:solidFill>
            <a:srgbClr val="39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8" y="3255263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Ad-hoc tasks show no chip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and behave exactly as before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828800"/>
            <a:ext cx="4997196" cy="2487168"/>
          </a:xfrm>
          <a:prstGeom prst="roundRect">
            <a:avLst>
              <a:gd name="adj" fmla="val 6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048256"/>
            <a:ext cx="45399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60">
                <a:solidFill>
                  <a:srgbClr val="2E6BFF"/>
                </a:solidFill>
                <a:latin typeface="Segoe UI Semibold"/>
                <a:cs typeface="Segoe UI Semibold"/>
              </a:rPr>
              <a:t>WORKFLOW 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7668" y="2414016"/>
            <a:ext cx="4485131" cy="12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5955" y="2660903"/>
            <a:ext cx="82296" cy="82296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7123" y="2578608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Each card lists its current stage's open tasks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inline, with assignee avatars</a:t>
            </a:r>
          </a:p>
        </p:txBody>
      </p:sp>
      <p:sp>
        <p:nvSpPr>
          <p:cNvPr id="18" name="Oval 17"/>
          <p:cNvSpPr/>
          <p:nvPr/>
        </p:nvSpPr>
        <p:spPr>
          <a:xfrm>
            <a:off x="6505955" y="3337559"/>
            <a:ext cx="82296" cy="82296"/>
          </a:xfrm>
          <a:prstGeom prst="ellipse">
            <a:avLst/>
          </a:prstGeom>
          <a:solidFill>
            <a:srgbClr val="2E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7123" y="3255263"/>
            <a:ext cx="42656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Closing an inline task updates both views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9AA4BE"/>
                </a:solidFill>
                <a:latin typeface="Segoe UI"/>
                <a:cs typeface="Segoe UI"/>
              </a:rPr>
              <a:t>card + My Work, no manual refresh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480560"/>
            <a:ext cx="10268712" cy="1170432"/>
          </a:xfrm>
          <a:prstGeom prst="roundRect">
            <a:avLst>
              <a:gd name="adj" fmla="val 6000"/>
            </a:avLst>
          </a:prstGeom>
          <a:solidFill>
            <a:srgbClr val="17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617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37D39B"/>
                </a:solidFill>
                <a:latin typeface="Segoe UI Semibold"/>
                <a:cs typeface="Segoe UI Semibold"/>
              </a:rPr>
              <a:t>MANUAL ADVANCE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56048"/>
            <a:ext cx="96286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4CCDE"/>
                </a:solidFill>
                <a:latin typeface="Segoe UI"/>
                <a:cs typeface="Segoe UI"/>
              </a:rPr>
              <a:t>Prompts for a reason · empty reason rejected · reason stored in history · retired Board sub-tab is gone.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Segoe UI Semibold"/>
                <a:cs typeface="Segoe UI Semibold"/>
              </a:rPr>
              <a:t>The golden-path test — the Kapoor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965960"/>
            <a:ext cx="457200" cy="457200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2E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9B7FF"/>
                </a:solidFill>
                <a:latin typeface="Segoe UI Semibold"/>
                <a:cs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965960"/>
            <a:ext cx="95371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4CCDE"/>
                </a:solidFill>
                <a:latin typeface="Segoe UI"/>
                <a:cs typeface="Segoe UI"/>
              </a:rPr>
              <a:t>Voice capture → card at Booked + task “Confirm with customer” (Sales)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468880"/>
            <a:ext cx="18288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679191"/>
            <a:ext cx="457200" cy="457200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2E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6090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9B7FF"/>
                </a:solidFill>
                <a:latin typeface="Segoe UI Semibold"/>
                <a:cs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679191"/>
            <a:ext cx="95371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4CCDE"/>
                </a:solidFill>
                <a:latin typeface="Segoe UI"/>
                <a:cs typeface="Segoe UI"/>
              </a:rPr>
              <a:t>Sales closes task → advance to Confirmed → “Prepare invoice” (Finance) + Owner approval pending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182111"/>
            <a:ext cx="18288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3392424"/>
            <a:ext cx="457200" cy="457200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2E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741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9B7FF"/>
                </a:solidFill>
                <a:latin typeface="Segoe UI Semibold"/>
                <a:cs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3392424"/>
            <a:ext cx="95371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4CCDE"/>
                </a:solidFill>
                <a:latin typeface="Segoe UI"/>
                <a:cs typeface="Segoe UI"/>
              </a:rPr>
              <a:t>Finance closes task AND Owner approves → advance to Dispatched → “Pack &amp; ship” (Ops)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3895344"/>
            <a:ext cx="18288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105656"/>
            <a:ext cx="457200" cy="457200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2E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873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9B7FF"/>
                </a:solidFill>
                <a:latin typeface="Segoe UI Semibold"/>
                <a:cs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4105656"/>
            <a:ext cx="95371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4CCDE"/>
                </a:solidFill>
                <a:latin typeface="Segoe UI"/>
                <a:cs typeface="Segoe UI"/>
              </a:rPr>
              <a:t>Ops closes task → advance to Paid (terminal) → side-effect marks invoice paid → card done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4608576"/>
            <a:ext cx="18288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4818888"/>
            <a:ext cx="457200" cy="457200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2E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00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9B7FF"/>
                </a:solidFill>
                <a:latin typeface="Segoe UI Semibold"/>
                <a:cs typeface="Segoe UI Semi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4818888"/>
            <a:ext cx="95371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4CCDE"/>
                </a:solidFill>
                <a:latin typeface="Segoe UI"/>
                <a:cs typeface="Segoe UI"/>
              </a:rPr>
              <a:t>History shows every transition — no manual advance was ever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828800"/>
            <a:ext cx="6035040" cy="3108960"/>
          </a:xfrm>
          <a:prstGeom prst="ellipse">
            <a:avLst/>
          </a:prstGeom>
          <a:gradFill>
            <a:gsLst>
              <a:gs pos="0">
                <a:srgbClr val="2E6BFF">
                  <a:alpha val="36000"/>
                </a:srgbClr>
              </a:gs>
              <a:gs pos="45000">
                <a:srgbClr val="2E6BFF">
                  <a:alpha val="13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39" y="2377440"/>
            <a:ext cx="3108960" cy="1645920"/>
          </a:xfrm>
          <a:prstGeom prst="ellipse">
            <a:avLst/>
          </a:prstGeom>
          <a:gradFill>
            <a:gsLst>
              <a:gs pos="0">
                <a:srgbClr val="39B7FF">
                  <a:alpha val="30000"/>
                </a:srgbClr>
              </a:gs>
              <a:gs pos="45000">
                <a:srgbClr val="2E6BFF">
                  <a:alpha val="11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8961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SAFETY 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 i="0">
                <a:solidFill>
                  <a:srgbClr val="FFFFFF"/>
                </a:solidFill>
                <a:latin typeface="Segoe UI Semibold"/>
                <a:cs typeface="Segoe UI Semibold"/>
              </a:rPr>
              <a:t>Existing tenants must not feel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5669280" cy="1449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600" b="0" i="0">
                <a:solidFill>
                  <a:srgbClr val="FFFFFF"/>
                </a:solidFill>
                <a:latin typeface="Segoe UI Light"/>
                <a:cs typeface="Segoe UI Light"/>
              </a:rPr>
              <a:t>553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6" y="3964432"/>
            <a:ext cx="237744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407416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A4BE"/>
                </a:solidFill>
                <a:latin typeface="Segoe UI"/>
                <a:cs typeface="Segoe UI"/>
              </a:rPr>
              <a:t>baseline tests stay green at every phase boundary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2843784"/>
            <a:ext cx="91440" cy="91440"/>
          </a:xfrm>
          <a:prstGeom prst="ellipse">
            <a:avLst/>
          </a:prstGeom>
          <a:solidFill>
            <a:srgbClr val="37D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278892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Tenants who never edit templates see identical behaviour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3502151"/>
            <a:ext cx="91440" cy="91440"/>
          </a:xfrm>
          <a:prstGeom prst="ellipse">
            <a:avLst/>
          </a:prstGeom>
          <a:solidFill>
            <a:srgbClr val="37D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3447287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Ad-hoc tasks (no workflow) create, assign, close as today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4160519"/>
            <a:ext cx="91440" cy="91440"/>
          </a:xfrm>
          <a:prstGeom prst="ellipse">
            <a:avLst/>
          </a:prstGeom>
          <a:solidFill>
            <a:srgbClr val="37D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4105655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Counters, dashboards, notifications unchanged until a template is populated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4818887"/>
            <a:ext cx="91440" cy="91440"/>
          </a:xfrm>
          <a:prstGeom prst="ellipse">
            <a:avLst/>
          </a:prstGeom>
          <a:solidFill>
            <a:srgbClr val="37D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4764023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Each phase has a tested reverse or forward-fix — app stays shippable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687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GO / NO-GO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07008"/>
            <a:ext cx="10268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FFFFFF"/>
                </a:solidFill>
                <a:latin typeface="Segoe UI Semibold"/>
                <a:cs typeface="Segoe UI Semibold"/>
              </a:rPr>
              <a:t>A phase isn't done until its gate is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5742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1572" y="1965960"/>
            <a:ext cx="842009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 spc="140">
                <a:solidFill>
                  <a:srgbClr val="9AA4BE"/>
                </a:solidFill>
                <a:latin typeface="Segoe UI Semibold"/>
                <a:cs typeface="Segoe UI Semibold"/>
              </a:rPr>
              <a:t>EXIT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386584"/>
            <a:ext cx="10268712" cy="1524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96312"/>
            <a:ext cx="15468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1572" y="2496312"/>
            <a:ext cx="839266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Ghosts removed · backfill idempotent · zero behaviour diff · 4-tab Settings verified · suite green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282696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15468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1572" y="3337560"/>
            <a:ext cx="839266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Engine unit + integration green · single-writer contract holds · stage migration replica-safe · side-effects fire once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123944"/>
            <a:ext cx="10268712" cy="1016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78808"/>
            <a:ext cx="15468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Segoe UI Semibold"/>
                <a:cs typeface="Segoe UI Semibold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1572" y="4178808"/>
            <a:ext cx="839266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4CCDE"/>
                </a:solidFill>
                <a:latin typeface="Segoe UI"/>
                <a:cs typeface="Segoe UI"/>
              </a:rPr>
              <a:t>Stage chips + inline tasks verified · manual advance needs a reason · Board sub-tab retired · E2E golden path 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C6CEF6"/>
              </a:gs>
              <a:gs pos="100000">
                <a:srgbClr val="A7B3E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4552" cy="5623560"/>
          </a:xfrm>
          <a:prstGeom prst="roundRect">
            <a:avLst>
              <a:gd name="adj" fmla="val 5500"/>
            </a:avLst>
          </a:prstGeom>
          <a:solidFill>
            <a:srgbClr val="0A0B12"/>
          </a:solidFill>
          <a:ln>
            <a:noFill/>
          </a:ln>
          <a:effectLst>
            <a:outerShdw blurRad="457200" dist="177800" dir="5400000" rotWithShape="0">
              <a:srgbClr val="0A0E33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40679" y="2377439"/>
            <a:ext cx="6858000" cy="3657600"/>
          </a:xfrm>
          <a:prstGeom prst="ellipse">
            <a:avLst/>
          </a:prstGeom>
          <a:gradFill>
            <a:gsLst>
              <a:gs pos="0">
                <a:srgbClr val="2E6BFF">
                  <a:alpha val="38000"/>
                </a:srgbClr>
              </a:gs>
              <a:gs pos="45000">
                <a:srgbClr val="2E6BFF">
                  <a:alpha val="15000"/>
                </a:srgbClr>
              </a:gs>
              <a:gs pos="100000">
                <a:srgbClr val="2E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220">
                <a:solidFill>
                  <a:srgbClr val="39B7FF"/>
                </a:solidFill>
                <a:latin typeface="Segoe UI Semibold"/>
                <a:cs typeface="Segoe UI Semibold"/>
              </a:rPr>
              <a:t>NOT TESTED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 Light"/>
                <a:cs typeface="Segoe UI Light"/>
              </a:rPr>
              <a:t>Deliberately excluded — </a:t>
            </a:r>
            <a:r>
              <a:rPr sz="3000" b="0" i="0">
                <a:solidFill>
                  <a:srgbClr val="FFFFFF"/>
                </a:solidFill>
                <a:latin typeface="Segoe UI Semibold"/>
                <a:cs typeface="Segoe UI Semibold"/>
              </a:rPr>
              <a:t>matches the build's non-goals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063240"/>
            <a:ext cx="3070555" cy="548640"/>
          </a:xfrm>
          <a:prstGeom prst="roundRect">
            <a:avLst>
              <a:gd name="adj" fmla="val 50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307055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Cross-pipeline dependencies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9275" y="3063240"/>
            <a:ext cx="1453896" cy="548640"/>
          </a:xfrm>
          <a:prstGeom prst="roundRect">
            <a:avLst>
              <a:gd name="adj" fmla="val 50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9275" y="3063240"/>
            <a:ext cx="14538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SLA timers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1771" y="3063240"/>
            <a:ext cx="2214676" cy="548640"/>
          </a:xfrm>
          <a:prstGeom prst="roundRect">
            <a:avLst>
              <a:gd name="adj" fmla="val 50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1771" y="3063240"/>
            <a:ext cx="221467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Workload balancing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5047" y="3063240"/>
            <a:ext cx="2024481" cy="548640"/>
          </a:xfrm>
          <a:prstGeom prst="roundRect">
            <a:avLst>
              <a:gd name="adj" fmla="val 50000"/>
            </a:avLst>
          </a:prstGeom>
          <a:solidFill>
            <a:srgbClr val="12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7" y="3063240"/>
            <a:ext cx="202448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4CCDE"/>
                </a:solidFill>
                <a:latin typeface="Segoe UI"/>
                <a:cs typeface="Segoe UI"/>
              </a:rPr>
              <a:t>Forecast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114800"/>
            <a:ext cx="10268712" cy="12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89120"/>
            <a:ext cx="102687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FFFFFF"/>
                </a:solidFill>
                <a:latin typeface="Segoe UI Semibold"/>
                <a:cs typeface="Segoe UI Semibold"/>
              </a:rPr>
              <a:t>We test that the board can be trusted again — not features we haven't built yet.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9AA4BE"/>
                </a:solidFill>
                <a:latin typeface="Segoe UI"/>
                <a:cs typeface="Segoe UI"/>
              </a:rPr>
              <a:t>Ship the engine, watch it run, then scope the next test cycle.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50">
                <a:solidFill>
                  <a:srgbClr val="6B7590"/>
                </a:solidFill>
                <a:latin typeface="Segoe UI"/>
                <a:cs typeface="Segoe UI"/>
              </a:rPr>
              <a:t>DecisionOS</a:t>
            </a:r>
            <a:r>
              <a:rPr sz="900" b="0" i="0">
                <a:solidFill>
                  <a:srgbClr val="6B7590"/>
                </a:solidFill>
                <a:latin typeface="Segoe UI"/>
                <a:cs typeface="Segoe UI"/>
              </a:rPr>
              <a:t>   ·   Testing Plan · Workflow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00">
                <a:solidFill>
                  <a:srgbClr val="6B7590"/>
                </a:solidFill>
                <a:latin typeface="Segoe UI Semibold"/>
                <a:cs typeface="Segoe UI Semibold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