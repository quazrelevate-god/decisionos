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DecisionOS AI Onboarding Evaluation, Case Study APM.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APM — overview, industry, products, operations, plus website-intelligence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interview — 6 context-aware questions across operations, procurement, QC, installation, approvals, comms.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structure — four departments inferred automatically from interview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extraction + approval-rule detection, both derived from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and recurring operational tasks extracted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scorecard — every dimension rated five stars; overall Excellent.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outcomes and thank-you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1097280"/>
            <a:ext cx="1097280" cy="8229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97280"/>
            <a:ext cx="-365760" cy="1554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920240"/>
            <a:ext cx="27432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2651760"/>
            <a:ext cx="731520" cy="11887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3291840"/>
            <a:ext cx="-1005840" cy="5486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3291840"/>
            <a:ext cx="36576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3840480"/>
            <a:ext cx="-182880" cy="12801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0" y="4663440"/>
            <a:ext cx="-1554480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822960"/>
            <a:ext cx="91440" cy="10972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83496" y="99669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17352" y="185623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4312" y="25877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55096" y="3191256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85832" y="377647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7432" y="459943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502005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25912" y="75895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ONBOARDING EVALUATION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AI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Evaluation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business through an adaptive AI interview and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its operational blueprint.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806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logo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580644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5806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logo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APM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932688"/>
          </a:xfrm>
          <a:prstGeom prst="roundRect">
            <a:avLst>
              <a:gd name="adj" fmla="val 9804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19656"/>
            <a:ext cx="493776" cy="49377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7099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1984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builds government-certified vehicle safety hardware for fleet, school and transport operators across India.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806440" cy="932688"/>
          </a:xfrm>
          <a:prstGeom prst="roundRect">
            <a:avLst>
              <a:gd name="adj" fmla="val 9804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916936"/>
            <a:ext cx="493776" cy="49377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2807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0815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— commercial vehicle safety &amp; telematics (B2B / fleet).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806440" cy="932688"/>
          </a:xfrm>
          <a:prstGeom prst="roundRect">
            <a:avLst>
              <a:gd name="adj" fmla="val 9804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493776" cy="49377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14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3904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178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140 GPS Tracker, Speed Governor, Vehicle Safety Solutions, Prime Load Monitoring.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5806440" cy="932688"/>
          </a:xfrm>
          <a:prstGeom prst="roundRect">
            <a:avLst>
              <a:gd name="adj" fmla="val 9804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111496"/>
            <a:ext cx="493776" cy="49377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11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5001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52760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quotation → procurement → production → QC → installation → delivery.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1600200"/>
            <a:ext cx="4709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22008" y="1709928"/>
            <a:ext cx="4489704" cy="3026664"/>
          </a:xfrm>
          <a:prstGeom prst="roundRect">
            <a:avLst>
              <a:gd name="adj" fmla="val 2417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922008" y="1600200"/>
            <a:ext cx="4489704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website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3246120" cy="603504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8064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5943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17720" y="5806440"/>
            <a:ext cx="3246120" cy="603504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8064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Website Intelligence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5943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595360" y="5806440"/>
            <a:ext cx="3246120" cy="6035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58064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063240" cy="39776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2843784" cy="3758184"/>
          </a:xfrm>
          <a:prstGeom prst="roundRect">
            <a:avLst>
              <a:gd name="adj" fmla="val 2572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49808" y="1554480"/>
            <a:ext cx="2843784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Q1–A3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794760" y="1554480"/>
            <a:ext cx="3063240" cy="39776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04488" y="1664208"/>
            <a:ext cx="2843784" cy="3758184"/>
          </a:xfrm>
          <a:prstGeom prst="roundRect">
            <a:avLst>
              <a:gd name="adj" fmla="val 2572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904488" y="1554480"/>
            <a:ext cx="2843784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Q4–A6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86600" y="1600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progressively understands operations by asking context-aware questions — not a fixed questionnaire.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26974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6368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1546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16368" y="3127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86600" y="36118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6368" y="3584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(QC)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86600" y="40690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86600" y="45262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16368" y="4498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Process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86600" y="49834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16368" y="4956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10908792" cy="603504"/>
          </a:xfrm>
          <a:prstGeom prst="roundRect">
            <a:avLst>
              <a:gd name="adj" fmla="val 15152"/>
            </a:avLst>
          </a:prstGeom>
          <a:solidFill>
            <a:srgbClr val="0B143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80644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adaptive questions answered successfully.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UNDERSTANDING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Structure Identified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3621024" cy="3758184"/>
          </a:xfrm>
          <a:prstGeom prst="roundRect">
            <a:avLst>
              <a:gd name="adj" fmla="val 2020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49808" y="1554480"/>
            <a:ext cx="3621024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0" y="157276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automatically identified APM's operational departments from the interview responses.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9FB0D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523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56048" y="301752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Quotation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9FB0D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523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30768" y="301752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Supplier Management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995928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9FB0D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4142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56048" y="463600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Quality Control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995928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88900" dist="25400" dir="5400000">
              <a:srgbClr val="9FB0D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4142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30768" y="463600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Device Activation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5897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inferred the organizational structure directly from interview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Approval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5038344" cy="2295144"/>
          </a:xfrm>
          <a:prstGeom prst="roundRect">
            <a:avLst>
              <a:gd name="adj" fmla="val 3187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920240"/>
            <a:ext cx="503834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73352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37944" y="46177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37944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42616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7208" y="461772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67912" y="46177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46177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82896" y="461772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4617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46177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6177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82512" y="4617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47104" y="461772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Intelligence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920240"/>
            <a:ext cx="528523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2029968"/>
            <a:ext cx="5065776" cy="2295144"/>
          </a:xfrm>
          <a:prstGeom prst="roundRect">
            <a:avLst>
              <a:gd name="adj" fmla="val 3187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373368" y="1920240"/>
            <a:ext cx="5065776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Rules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263640" y="4617720"/>
            <a:ext cx="292608" cy="29260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599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Purchase Approval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63640" y="5038344"/>
            <a:ext cx="292608" cy="29260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0200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Supplier Approval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63640" y="5458968"/>
            <a:ext cx="292608" cy="29260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5458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5440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Shortage Escalation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discovered end-to-end workflow stages and their approval policies from the conversation alone.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OPERATIONS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Operational Tasks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Identified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5038344" cy="2752344"/>
          </a:xfrm>
          <a:prstGeom prst="roundRect">
            <a:avLst>
              <a:gd name="adj" fmla="val 2658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920240"/>
            <a:ext cx="503834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140 GPS Tracker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50292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Governor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Safety Solutions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55778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3EC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Load Monitoring System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Tasks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5285232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D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73368" y="2029968"/>
            <a:ext cx="5065776" cy="2752344"/>
          </a:xfrm>
          <a:prstGeom prst="roundRect">
            <a:avLst>
              <a:gd name="adj" fmla="val 2658"/>
            </a:avLst>
          </a:prstGeom>
          <a:solidFill>
            <a:srgbClr val="EEF3FF"/>
          </a:solidFill>
          <a:ln w="12700">
            <a:solidFill>
              <a:srgbClr val="2E6BE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73368" y="1920240"/>
            <a:ext cx="5065776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
</a:t>
            </a:r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Tasks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5029200"/>
            <a:ext cx="5285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identified recurring activities — procurement follow-ups, QC reviews, installation scheduling, compliance verification, and status consolidation.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Understanding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95144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2951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00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990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85032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850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799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Rule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3799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74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Blueprint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5074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80960" y="1600200"/>
            <a:ext cx="3867912" cy="3602736"/>
          </a:xfrm>
          <a:prstGeom prst="roundRect">
            <a:avLst>
              <a:gd name="adj" fmla="val 3046"/>
            </a:avLst>
          </a:prstGeom>
          <a:solidFill>
            <a:srgbClr val="0B1437"/>
          </a:solidFill>
          <a:ln/>
          <a:effectLst>
            <a:outerShdw sx="100000" sy="100000" kx="0" ky="0" algn="bl" rotWithShape="0" blurRad="152400" dist="50800" dir="5400000">
              <a:srgbClr val="6B7BA8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9659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251460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680960" y="34747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680960" y="420624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/ 5.0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5321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3EC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successfully transformed unstructured business conversations into a structured operational blueprint — with no manual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1097280"/>
            <a:ext cx="1097280" cy="8229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97280"/>
            <a:ext cx="-365760" cy="1554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920240"/>
            <a:ext cx="27432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2651760"/>
            <a:ext cx="731520" cy="11887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3291840"/>
            <a:ext cx="-1005840" cy="5486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3291840"/>
            <a:ext cx="36576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3840480"/>
            <a:ext cx="-182880" cy="12801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0" y="4663440"/>
            <a:ext cx="-1554480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822960"/>
            <a:ext cx="91440" cy="10972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83496" y="99669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17352" y="185623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4312" y="25877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55096" y="3191256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85832" y="377647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7432" y="459943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6376" y="502005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25912" y="758952"/>
            <a:ext cx="128016" cy="12801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731520" y="205740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2185416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35024" y="2057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company operations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2770632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2898648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35024" y="2770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departments automatically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3483864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3611880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35024" y="348386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end-to-end workflows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1520" y="4197096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4325112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35024" y="41970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approval hierarchy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1520" y="4910328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" y="5038344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35024" y="49103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recurring operational tasks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1520" y="5623560"/>
            <a:ext cx="5212080" cy="566928"/>
          </a:xfrm>
          <a:prstGeom prst="roundRect">
            <a:avLst>
              <a:gd name="adj" fmla="val 16129"/>
            </a:avLst>
          </a:prstGeom>
          <a:solidFill>
            <a:srgbClr val="12204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" y="5751576"/>
            <a:ext cx="310896" cy="31089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43" name="Text 41"/>
          <p:cNvSpPr/>
          <p:nvPr/>
        </p:nvSpPr>
        <p:spPr>
          <a:xfrm>
            <a:off x="877824" y="5751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35024" y="5623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business blueprint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55080" y="2194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onboards organizations using conversational intelligence and AI-driven business understanding.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6382512" y="3840480"/>
            <a:ext cx="2011680" cy="0"/>
          </a:xfrm>
          <a:prstGeom prst="line">
            <a:avLst/>
          </a:prstGeom>
          <a:noFill/>
          <a:ln w="25400">
            <a:solidFill>
              <a:srgbClr val="2E6B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297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8" name="Text 46"/>
          <p:cNvSpPr/>
          <p:nvPr/>
        </p:nvSpPr>
        <p:spPr>
          <a:xfrm>
            <a:off x="635508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DecisionOS  ·  AI Onboarding Evaluation  ·  APM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2026-08-05T15:40:44Z</dcterms:created>
  <dcterms:modified xsi:type="dcterms:W3CDTF">2026-08-05T15:40:44Z</dcterms:modified>
</cp:coreProperties>
</file>